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1D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 showGuides="1">
      <p:cViewPr varScale="1">
        <p:scale>
          <a:sx n="62" d="100"/>
          <a:sy n="62" d="100"/>
        </p:scale>
        <p:origin x="978" y="6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D471EF-77C5-4BC2-9E59-A24810FF1F5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E53D833-2A36-4774-9ECB-2B60E0ED77F1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O objetivo é maximizar o envio de cupons que converterão em transações</a:t>
          </a:r>
          <a:endParaRPr lang="en-US"/>
        </a:p>
      </dgm:t>
    </dgm:pt>
    <dgm:pt modelId="{E38907C0-2C49-4C96-9ACF-78DA50784EEB}" type="parTrans" cxnId="{617D1263-62E6-46B7-A608-BECDD433F185}">
      <dgm:prSet/>
      <dgm:spPr/>
      <dgm:t>
        <a:bodyPr/>
        <a:lstStyle/>
        <a:p>
          <a:endParaRPr lang="en-US"/>
        </a:p>
      </dgm:t>
    </dgm:pt>
    <dgm:pt modelId="{0B6044A3-07F6-44DF-89F4-760DD0D2E3E4}" type="sibTrans" cxnId="{617D1263-62E6-46B7-A608-BECDD433F185}">
      <dgm:prSet/>
      <dgm:spPr/>
      <dgm:t>
        <a:bodyPr/>
        <a:lstStyle/>
        <a:p>
          <a:endParaRPr lang="en-US"/>
        </a:p>
      </dgm:t>
    </dgm:pt>
    <dgm:pt modelId="{0A09ABA7-102D-4924-BB69-40D425B4674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Cupons devem estimular a compra</a:t>
          </a:r>
          <a:endParaRPr lang="en-US"/>
        </a:p>
      </dgm:t>
    </dgm:pt>
    <dgm:pt modelId="{D47A7414-8F5E-4632-BCF8-19A0AA99BB42}" type="parTrans" cxnId="{2D43C5C6-A1D7-4630-8318-16947B863476}">
      <dgm:prSet/>
      <dgm:spPr/>
      <dgm:t>
        <a:bodyPr/>
        <a:lstStyle/>
        <a:p>
          <a:endParaRPr lang="en-US"/>
        </a:p>
      </dgm:t>
    </dgm:pt>
    <dgm:pt modelId="{6CC51C18-3902-4DAF-B1C5-0D830BAFF47C}" type="sibTrans" cxnId="{2D43C5C6-A1D7-4630-8318-16947B863476}">
      <dgm:prSet/>
      <dgm:spPr/>
      <dgm:t>
        <a:bodyPr/>
        <a:lstStyle/>
        <a:p>
          <a:endParaRPr lang="en-US"/>
        </a:p>
      </dgm:t>
    </dgm:pt>
    <dgm:pt modelId="{FED93660-3CE5-4822-9277-31037F2473FD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Ignorar  </a:t>
          </a:r>
          <a:r>
            <a:rPr lang="pt-BR" b="1" dirty="0">
              <a:solidFill>
                <a:srgbClr val="FF0000"/>
              </a:solidFill>
            </a:rPr>
            <a:t>X</a:t>
          </a:r>
          <a:endParaRPr lang="en-US" b="1" dirty="0">
            <a:solidFill>
              <a:srgbClr val="FF0000"/>
            </a:solidFill>
          </a:endParaRPr>
        </a:p>
      </dgm:t>
    </dgm:pt>
    <dgm:pt modelId="{70C94F35-A44D-4CC7-8C44-17D329FD8F6E}" type="parTrans" cxnId="{2F625754-EE13-4343-808E-25D9DF3BECC1}">
      <dgm:prSet/>
      <dgm:spPr/>
      <dgm:t>
        <a:bodyPr/>
        <a:lstStyle/>
        <a:p>
          <a:endParaRPr lang="en-US"/>
        </a:p>
      </dgm:t>
    </dgm:pt>
    <dgm:pt modelId="{5E2B0036-0A47-4BF4-A02B-3B2C0C0D0B85}" type="sibTrans" cxnId="{2F625754-EE13-4343-808E-25D9DF3BECC1}">
      <dgm:prSet/>
      <dgm:spPr/>
      <dgm:t>
        <a:bodyPr/>
        <a:lstStyle/>
        <a:p>
          <a:endParaRPr lang="en-US"/>
        </a:p>
      </dgm:t>
    </dgm:pt>
    <dgm:pt modelId="{A3F00695-36A0-4FFA-88D5-15FCA585468E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Compra já seria feita independente do cupom </a:t>
          </a:r>
          <a:r>
            <a:rPr lang="pt-BR" b="1" dirty="0">
              <a:solidFill>
                <a:srgbClr val="FF0000"/>
              </a:solidFill>
            </a:rPr>
            <a:t>X</a:t>
          </a:r>
          <a:endParaRPr lang="en-US" b="1" dirty="0">
            <a:solidFill>
              <a:srgbClr val="FF0000"/>
            </a:solidFill>
          </a:endParaRPr>
        </a:p>
      </dgm:t>
    </dgm:pt>
    <dgm:pt modelId="{78C257EE-E401-4A97-B7C0-7BC5EF41D5E0}" type="parTrans" cxnId="{E78BD051-9336-417F-B724-5AC0ACF06E29}">
      <dgm:prSet/>
      <dgm:spPr/>
      <dgm:t>
        <a:bodyPr/>
        <a:lstStyle/>
        <a:p>
          <a:endParaRPr lang="en-US"/>
        </a:p>
      </dgm:t>
    </dgm:pt>
    <dgm:pt modelId="{0190EE96-E166-41E7-8535-5B4BF27FAEC1}" type="sibTrans" cxnId="{E78BD051-9336-417F-B724-5AC0ACF06E29}">
      <dgm:prSet/>
      <dgm:spPr/>
      <dgm:t>
        <a:bodyPr/>
        <a:lstStyle/>
        <a:p>
          <a:endParaRPr lang="en-US"/>
        </a:p>
      </dgm:t>
    </dgm:pt>
    <dgm:pt modelId="{4C639C60-1ED7-45C7-AC04-77D5F4AD4EF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Evento alvo:</a:t>
          </a:r>
          <a:endParaRPr lang="en-US"/>
        </a:p>
      </dgm:t>
    </dgm:pt>
    <dgm:pt modelId="{36A05D82-CB85-4CB9-BD83-2EEC44041325}" type="parTrans" cxnId="{E17CF025-DBBD-493E-B4E2-F3760F0E8AFC}">
      <dgm:prSet/>
      <dgm:spPr/>
      <dgm:t>
        <a:bodyPr/>
        <a:lstStyle/>
        <a:p>
          <a:endParaRPr lang="en-US"/>
        </a:p>
      </dgm:t>
    </dgm:pt>
    <dgm:pt modelId="{49AC91DB-0D3C-468A-A784-054293E89C4B}" type="sibTrans" cxnId="{E17CF025-DBBD-493E-B4E2-F3760F0E8AFC}">
      <dgm:prSet/>
      <dgm:spPr/>
      <dgm:t>
        <a:bodyPr/>
        <a:lstStyle/>
        <a:p>
          <a:endParaRPr lang="en-US"/>
        </a:p>
      </dgm:t>
    </dgm:pt>
    <dgm:pt modelId="{5847BA37-A5C3-4ABE-948E-181AFA066A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offer received → offer viewed → [transaction(s)] → offer completed</a:t>
          </a:r>
        </a:p>
      </dgm:t>
    </dgm:pt>
    <dgm:pt modelId="{D96AA69B-B82A-4021-B178-88323F7B2374}" type="parTrans" cxnId="{9DB3B015-BAC0-40C9-9C41-0BA8D4A9DAB6}">
      <dgm:prSet/>
      <dgm:spPr/>
      <dgm:t>
        <a:bodyPr/>
        <a:lstStyle/>
        <a:p>
          <a:endParaRPr lang="en-US"/>
        </a:p>
      </dgm:t>
    </dgm:pt>
    <dgm:pt modelId="{AC606595-D084-4812-9EFF-031CFEBE0A2A}" type="sibTrans" cxnId="{9DB3B015-BAC0-40C9-9C41-0BA8D4A9DAB6}">
      <dgm:prSet/>
      <dgm:spPr/>
      <dgm:t>
        <a:bodyPr/>
        <a:lstStyle/>
        <a:p>
          <a:endParaRPr lang="en-US"/>
        </a:p>
      </dgm:t>
    </dgm:pt>
    <dgm:pt modelId="{08CF979B-7A32-4AC5-A84C-28F510C735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Dentro da janela de duração do cupom</a:t>
          </a:r>
        </a:p>
      </dgm:t>
    </dgm:pt>
    <dgm:pt modelId="{22892451-8640-4F91-B947-049333217FBD}" type="parTrans" cxnId="{7C246085-2A29-46BE-83FF-09C56A6D6FEE}">
      <dgm:prSet/>
      <dgm:spPr/>
      <dgm:t>
        <a:bodyPr/>
        <a:lstStyle/>
        <a:p>
          <a:endParaRPr lang="en-US"/>
        </a:p>
      </dgm:t>
    </dgm:pt>
    <dgm:pt modelId="{08D4359C-6ACA-4C02-B8B3-38FE6A57DDD0}" type="sibTrans" cxnId="{7C246085-2A29-46BE-83FF-09C56A6D6FEE}">
      <dgm:prSet/>
      <dgm:spPr/>
      <dgm:t>
        <a:bodyPr/>
        <a:lstStyle/>
        <a:p>
          <a:endParaRPr lang="en-US"/>
        </a:p>
      </dgm:t>
    </dgm:pt>
    <dgm:pt modelId="{34610C35-9F4B-4146-BD49-E187B4FFE1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Para cupom informacional não há o offer completed</a:t>
          </a:r>
        </a:p>
      </dgm:t>
    </dgm:pt>
    <dgm:pt modelId="{1E3A05F2-A260-486E-948E-1B069F19231E}" type="parTrans" cxnId="{74D5AB6C-EF8E-4D4F-9A4C-F56E552B9096}">
      <dgm:prSet/>
      <dgm:spPr/>
      <dgm:t>
        <a:bodyPr/>
        <a:lstStyle/>
        <a:p>
          <a:endParaRPr lang="en-US"/>
        </a:p>
      </dgm:t>
    </dgm:pt>
    <dgm:pt modelId="{B72310DA-AC06-48F6-B8B7-3F9E671F6C1C}" type="sibTrans" cxnId="{74D5AB6C-EF8E-4D4F-9A4C-F56E552B9096}">
      <dgm:prSet/>
      <dgm:spPr/>
      <dgm:t>
        <a:bodyPr/>
        <a:lstStyle/>
        <a:p>
          <a:endParaRPr lang="en-US"/>
        </a:p>
      </dgm:t>
    </dgm:pt>
    <dgm:pt modelId="{983D59DD-BB26-402A-96B3-95AA4EFFB376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Um modelo para cada tipo de cupom (BOGO, Informacional e Desconto)</a:t>
          </a:r>
          <a:endParaRPr lang="en-US"/>
        </a:p>
      </dgm:t>
    </dgm:pt>
    <dgm:pt modelId="{70BF3FAE-05A3-4BAE-AE98-FC97DBEFC8D8}" type="parTrans" cxnId="{0EBBFDAA-F142-4E46-A8AF-E3D67BE46C70}">
      <dgm:prSet/>
      <dgm:spPr/>
      <dgm:t>
        <a:bodyPr/>
        <a:lstStyle/>
        <a:p>
          <a:endParaRPr lang="en-US"/>
        </a:p>
      </dgm:t>
    </dgm:pt>
    <dgm:pt modelId="{11CD30A3-D0BA-40B9-BEAF-7088D7D5ECC6}" type="sibTrans" cxnId="{0EBBFDAA-F142-4E46-A8AF-E3D67BE46C70}">
      <dgm:prSet/>
      <dgm:spPr/>
      <dgm:t>
        <a:bodyPr/>
        <a:lstStyle/>
        <a:p>
          <a:endParaRPr lang="en-US"/>
        </a:p>
      </dgm:t>
    </dgm:pt>
    <dgm:pt modelId="{CE15D2B6-BBEF-4CA0-B7FF-95BD95314FCC}" type="pres">
      <dgm:prSet presAssocID="{5BD471EF-77C5-4BC2-9E59-A24810FF1F56}" presName="root" presStyleCnt="0">
        <dgm:presLayoutVars>
          <dgm:dir/>
          <dgm:resizeHandles val="exact"/>
        </dgm:presLayoutVars>
      </dgm:prSet>
      <dgm:spPr/>
    </dgm:pt>
    <dgm:pt modelId="{5C8D1A64-6992-4D14-B20B-F35D92339B0F}" type="pres">
      <dgm:prSet presAssocID="{7E53D833-2A36-4774-9ECB-2B60E0ED77F1}" presName="compNode" presStyleCnt="0"/>
      <dgm:spPr/>
    </dgm:pt>
    <dgm:pt modelId="{C59142EC-4F6E-49A8-843F-D9E31B839347}" type="pres">
      <dgm:prSet presAssocID="{7E53D833-2A36-4774-9ECB-2B60E0ED77F1}" presName="bgRect" presStyleLbl="bgShp" presStyleIdx="0" presStyleCnt="4"/>
      <dgm:spPr/>
    </dgm:pt>
    <dgm:pt modelId="{C5695ACF-89EC-4B2C-BA32-FEB63109C3AB}" type="pres">
      <dgm:prSet presAssocID="{7E53D833-2A36-4774-9ECB-2B60E0ED77F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a mosca"/>
        </a:ext>
      </dgm:extLst>
    </dgm:pt>
    <dgm:pt modelId="{66BEB79A-6D0A-422E-A873-8A8F744D39CA}" type="pres">
      <dgm:prSet presAssocID="{7E53D833-2A36-4774-9ECB-2B60E0ED77F1}" presName="spaceRect" presStyleCnt="0"/>
      <dgm:spPr/>
    </dgm:pt>
    <dgm:pt modelId="{E903A53E-BBF4-4CA3-BC89-20695374C086}" type="pres">
      <dgm:prSet presAssocID="{7E53D833-2A36-4774-9ECB-2B60E0ED77F1}" presName="parTx" presStyleLbl="revTx" presStyleIdx="0" presStyleCnt="6">
        <dgm:presLayoutVars>
          <dgm:chMax val="0"/>
          <dgm:chPref val="0"/>
        </dgm:presLayoutVars>
      </dgm:prSet>
      <dgm:spPr/>
    </dgm:pt>
    <dgm:pt modelId="{FD447D0A-6FAB-426B-8B45-0E6F6E3F2D9B}" type="pres">
      <dgm:prSet presAssocID="{0B6044A3-07F6-44DF-89F4-760DD0D2E3E4}" presName="sibTrans" presStyleCnt="0"/>
      <dgm:spPr/>
    </dgm:pt>
    <dgm:pt modelId="{D297D9D6-CBE4-4F2B-BF4F-FC50AA862921}" type="pres">
      <dgm:prSet presAssocID="{0A09ABA7-102D-4924-BB69-40D425B4674B}" presName="compNode" presStyleCnt="0"/>
      <dgm:spPr/>
    </dgm:pt>
    <dgm:pt modelId="{CA9B8FDD-E385-42C0-AE61-0BFAFE01DEB1}" type="pres">
      <dgm:prSet presAssocID="{0A09ABA7-102D-4924-BB69-40D425B4674B}" presName="bgRect" presStyleLbl="bgShp" presStyleIdx="1" presStyleCnt="4"/>
      <dgm:spPr/>
    </dgm:pt>
    <dgm:pt modelId="{15CB2072-7BD5-478E-A4A4-39AE1B4C3472}" type="pres">
      <dgm:prSet presAssocID="{0A09ABA7-102D-4924-BB69-40D425B4674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D060CEC0-0AEA-47C6-BD5E-0C7F208C3B71}" type="pres">
      <dgm:prSet presAssocID="{0A09ABA7-102D-4924-BB69-40D425B4674B}" presName="spaceRect" presStyleCnt="0"/>
      <dgm:spPr/>
    </dgm:pt>
    <dgm:pt modelId="{39997479-6786-4A3C-B9A6-45BE8E7CC3AA}" type="pres">
      <dgm:prSet presAssocID="{0A09ABA7-102D-4924-BB69-40D425B4674B}" presName="parTx" presStyleLbl="revTx" presStyleIdx="1" presStyleCnt="6">
        <dgm:presLayoutVars>
          <dgm:chMax val="0"/>
          <dgm:chPref val="0"/>
        </dgm:presLayoutVars>
      </dgm:prSet>
      <dgm:spPr/>
    </dgm:pt>
    <dgm:pt modelId="{8A141E51-24CD-4771-8D5B-8C9DE070A5BD}" type="pres">
      <dgm:prSet presAssocID="{0A09ABA7-102D-4924-BB69-40D425B4674B}" presName="desTx" presStyleLbl="revTx" presStyleIdx="2" presStyleCnt="6">
        <dgm:presLayoutVars/>
      </dgm:prSet>
      <dgm:spPr/>
    </dgm:pt>
    <dgm:pt modelId="{0BDC95A7-385C-4E26-9273-DB68CC56B4BC}" type="pres">
      <dgm:prSet presAssocID="{6CC51C18-3902-4DAF-B1C5-0D830BAFF47C}" presName="sibTrans" presStyleCnt="0"/>
      <dgm:spPr/>
    </dgm:pt>
    <dgm:pt modelId="{51FFCD63-CD97-48A0-87C1-0C85EE2D2EBB}" type="pres">
      <dgm:prSet presAssocID="{4C639C60-1ED7-45C7-AC04-77D5F4AD4EF2}" presName="compNode" presStyleCnt="0"/>
      <dgm:spPr/>
    </dgm:pt>
    <dgm:pt modelId="{9897146B-A21D-4FAC-BE72-4AB6E91E159B}" type="pres">
      <dgm:prSet presAssocID="{4C639C60-1ED7-45C7-AC04-77D5F4AD4EF2}" presName="bgRect" presStyleLbl="bgShp" presStyleIdx="2" presStyleCnt="4"/>
      <dgm:spPr/>
    </dgm:pt>
    <dgm:pt modelId="{DFF76359-F8A6-4384-8F0C-30B65B29EFFA}" type="pres">
      <dgm:prSet presAssocID="{4C639C60-1ED7-45C7-AC04-77D5F4AD4EF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uxograma"/>
        </a:ext>
      </dgm:extLst>
    </dgm:pt>
    <dgm:pt modelId="{B214888E-C6C4-4269-830A-AA04FCBD4D92}" type="pres">
      <dgm:prSet presAssocID="{4C639C60-1ED7-45C7-AC04-77D5F4AD4EF2}" presName="spaceRect" presStyleCnt="0"/>
      <dgm:spPr/>
    </dgm:pt>
    <dgm:pt modelId="{E276C63C-0735-4844-B719-5F842AC19CC7}" type="pres">
      <dgm:prSet presAssocID="{4C639C60-1ED7-45C7-AC04-77D5F4AD4EF2}" presName="parTx" presStyleLbl="revTx" presStyleIdx="3" presStyleCnt="6">
        <dgm:presLayoutVars>
          <dgm:chMax val="0"/>
          <dgm:chPref val="0"/>
        </dgm:presLayoutVars>
      </dgm:prSet>
      <dgm:spPr/>
    </dgm:pt>
    <dgm:pt modelId="{F2C15A5D-A6F8-4436-BE45-5095558E0BDD}" type="pres">
      <dgm:prSet presAssocID="{4C639C60-1ED7-45C7-AC04-77D5F4AD4EF2}" presName="desTx" presStyleLbl="revTx" presStyleIdx="4" presStyleCnt="6">
        <dgm:presLayoutVars/>
      </dgm:prSet>
      <dgm:spPr/>
    </dgm:pt>
    <dgm:pt modelId="{98720CD2-460F-46A8-B663-D94AC516C04E}" type="pres">
      <dgm:prSet presAssocID="{49AC91DB-0D3C-468A-A784-054293E89C4B}" presName="sibTrans" presStyleCnt="0"/>
      <dgm:spPr/>
    </dgm:pt>
    <dgm:pt modelId="{F0E33339-0BC6-4468-83BA-B62EBDD96EA8}" type="pres">
      <dgm:prSet presAssocID="{983D59DD-BB26-402A-96B3-95AA4EFFB376}" presName="compNode" presStyleCnt="0"/>
      <dgm:spPr/>
    </dgm:pt>
    <dgm:pt modelId="{3C6F5C41-CFC7-482B-9485-04C9BC72784D}" type="pres">
      <dgm:prSet presAssocID="{983D59DD-BB26-402A-96B3-95AA4EFFB376}" presName="bgRect" presStyleLbl="bgShp" presStyleIdx="3" presStyleCnt="4"/>
      <dgm:spPr/>
    </dgm:pt>
    <dgm:pt modelId="{2E83FF53-EC11-4AE6-AD3B-3B376D225FD7}" type="pres">
      <dgm:prSet presAssocID="{983D59DD-BB26-402A-96B3-95AA4EFFB37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ótulo"/>
        </a:ext>
      </dgm:extLst>
    </dgm:pt>
    <dgm:pt modelId="{F73E1A61-F243-4C6F-A190-E69AC59A26CF}" type="pres">
      <dgm:prSet presAssocID="{983D59DD-BB26-402A-96B3-95AA4EFFB376}" presName="spaceRect" presStyleCnt="0"/>
      <dgm:spPr/>
    </dgm:pt>
    <dgm:pt modelId="{0A3CE954-A0E0-4BF9-93FB-722340425720}" type="pres">
      <dgm:prSet presAssocID="{983D59DD-BB26-402A-96B3-95AA4EFFB376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E56BF111-16DA-4C1E-A688-6BC7FA4568B5}" type="presOf" srcId="{5BD471EF-77C5-4BC2-9E59-A24810FF1F56}" destId="{CE15D2B6-BBEF-4CA0-B7FF-95BD95314FCC}" srcOrd="0" destOrd="0" presId="urn:microsoft.com/office/officeart/2018/2/layout/IconVerticalSolidList"/>
    <dgm:cxn modelId="{FC6D1313-DA90-407D-896A-A539F0F0B8BC}" type="presOf" srcId="{7E53D833-2A36-4774-9ECB-2B60E0ED77F1}" destId="{E903A53E-BBF4-4CA3-BC89-20695374C086}" srcOrd="0" destOrd="0" presId="urn:microsoft.com/office/officeart/2018/2/layout/IconVerticalSolidList"/>
    <dgm:cxn modelId="{9DB3B015-BAC0-40C9-9C41-0BA8D4A9DAB6}" srcId="{4C639C60-1ED7-45C7-AC04-77D5F4AD4EF2}" destId="{5847BA37-A5C3-4ABE-948E-181AFA066A78}" srcOrd="0" destOrd="0" parTransId="{D96AA69B-B82A-4021-B178-88323F7B2374}" sibTransId="{AC606595-D084-4812-9EFF-031CFEBE0A2A}"/>
    <dgm:cxn modelId="{E17CF025-DBBD-493E-B4E2-F3760F0E8AFC}" srcId="{5BD471EF-77C5-4BC2-9E59-A24810FF1F56}" destId="{4C639C60-1ED7-45C7-AC04-77D5F4AD4EF2}" srcOrd="2" destOrd="0" parTransId="{36A05D82-CB85-4CB9-BD83-2EEC44041325}" sibTransId="{49AC91DB-0D3C-468A-A784-054293E89C4B}"/>
    <dgm:cxn modelId="{A673E627-9F0C-44BD-8649-3F6D13D852B3}" type="presOf" srcId="{08CF979B-7A32-4AC5-A84C-28F510C73591}" destId="{F2C15A5D-A6F8-4436-BE45-5095558E0BDD}" srcOrd="0" destOrd="1" presId="urn:microsoft.com/office/officeart/2018/2/layout/IconVerticalSolidList"/>
    <dgm:cxn modelId="{617D1263-62E6-46B7-A608-BECDD433F185}" srcId="{5BD471EF-77C5-4BC2-9E59-A24810FF1F56}" destId="{7E53D833-2A36-4774-9ECB-2B60E0ED77F1}" srcOrd="0" destOrd="0" parTransId="{E38907C0-2C49-4C96-9ACF-78DA50784EEB}" sibTransId="{0B6044A3-07F6-44DF-89F4-760DD0D2E3E4}"/>
    <dgm:cxn modelId="{74D5AB6C-EF8E-4D4F-9A4C-F56E552B9096}" srcId="{4C639C60-1ED7-45C7-AC04-77D5F4AD4EF2}" destId="{34610C35-9F4B-4146-BD49-E187B4FFE115}" srcOrd="2" destOrd="0" parTransId="{1E3A05F2-A260-486E-948E-1B069F19231E}" sibTransId="{B72310DA-AC06-48F6-B8B7-3F9E671F6C1C}"/>
    <dgm:cxn modelId="{E78BD051-9336-417F-B724-5AC0ACF06E29}" srcId="{0A09ABA7-102D-4924-BB69-40D425B4674B}" destId="{A3F00695-36A0-4FFA-88D5-15FCA585468E}" srcOrd="1" destOrd="0" parTransId="{78C257EE-E401-4A97-B7C0-7BC5EF41D5E0}" sibTransId="{0190EE96-E166-41E7-8535-5B4BF27FAEC1}"/>
    <dgm:cxn modelId="{2F625754-EE13-4343-808E-25D9DF3BECC1}" srcId="{0A09ABA7-102D-4924-BB69-40D425B4674B}" destId="{FED93660-3CE5-4822-9277-31037F2473FD}" srcOrd="0" destOrd="0" parTransId="{70C94F35-A44D-4CC7-8C44-17D329FD8F6E}" sibTransId="{5E2B0036-0A47-4BF4-A02B-3B2C0C0D0B85}"/>
    <dgm:cxn modelId="{54749A7B-767E-41B2-9F1E-8CE4494B6774}" type="presOf" srcId="{FED93660-3CE5-4822-9277-31037F2473FD}" destId="{8A141E51-24CD-4771-8D5B-8C9DE070A5BD}" srcOrd="0" destOrd="0" presId="urn:microsoft.com/office/officeart/2018/2/layout/IconVerticalSolidList"/>
    <dgm:cxn modelId="{8CB8A780-0847-48C5-968F-3EAD788F3F8C}" type="presOf" srcId="{0A09ABA7-102D-4924-BB69-40D425B4674B}" destId="{39997479-6786-4A3C-B9A6-45BE8E7CC3AA}" srcOrd="0" destOrd="0" presId="urn:microsoft.com/office/officeart/2018/2/layout/IconVerticalSolidList"/>
    <dgm:cxn modelId="{7C246085-2A29-46BE-83FF-09C56A6D6FEE}" srcId="{4C639C60-1ED7-45C7-AC04-77D5F4AD4EF2}" destId="{08CF979B-7A32-4AC5-A84C-28F510C73591}" srcOrd="1" destOrd="0" parTransId="{22892451-8640-4F91-B947-049333217FBD}" sibTransId="{08D4359C-6ACA-4C02-B8B3-38FE6A57DDD0}"/>
    <dgm:cxn modelId="{58C0D68A-7559-47CF-B13D-D6C944BC403B}" type="presOf" srcId="{5847BA37-A5C3-4ABE-948E-181AFA066A78}" destId="{F2C15A5D-A6F8-4436-BE45-5095558E0BDD}" srcOrd="0" destOrd="0" presId="urn:microsoft.com/office/officeart/2018/2/layout/IconVerticalSolidList"/>
    <dgm:cxn modelId="{E8C898A6-B118-4650-9DB5-F0BA72FCD75B}" type="presOf" srcId="{983D59DD-BB26-402A-96B3-95AA4EFFB376}" destId="{0A3CE954-A0E0-4BF9-93FB-722340425720}" srcOrd="0" destOrd="0" presId="urn:microsoft.com/office/officeart/2018/2/layout/IconVerticalSolidList"/>
    <dgm:cxn modelId="{0EBBFDAA-F142-4E46-A8AF-E3D67BE46C70}" srcId="{5BD471EF-77C5-4BC2-9E59-A24810FF1F56}" destId="{983D59DD-BB26-402A-96B3-95AA4EFFB376}" srcOrd="3" destOrd="0" parTransId="{70BF3FAE-05A3-4BAE-AE98-FC97DBEFC8D8}" sibTransId="{11CD30A3-D0BA-40B9-BEAF-7088D7D5ECC6}"/>
    <dgm:cxn modelId="{2D43C5C6-A1D7-4630-8318-16947B863476}" srcId="{5BD471EF-77C5-4BC2-9E59-A24810FF1F56}" destId="{0A09ABA7-102D-4924-BB69-40D425B4674B}" srcOrd="1" destOrd="0" parTransId="{D47A7414-8F5E-4632-BCF8-19A0AA99BB42}" sibTransId="{6CC51C18-3902-4DAF-B1C5-0D830BAFF47C}"/>
    <dgm:cxn modelId="{1B5983E1-3494-4F67-A63C-804484F094E9}" type="presOf" srcId="{34610C35-9F4B-4146-BD49-E187B4FFE115}" destId="{F2C15A5D-A6F8-4436-BE45-5095558E0BDD}" srcOrd="0" destOrd="2" presId="urn:microsoft.com/office/officeart/2018/2/layout/IconVerticalSolidList"/>
    <dgm:cxn modelId="{D42A3AEC-58A5-4E3F-B69A-75F2FC15759C}" type="presOf" srcId="{4C639C60-1ED7-45C7-AC04-77D5F4AD4EF2}" destId="{E276C63C-0735-4844-B719-5F842AC19CC7}" srcOrd="0" destOrd="0" presId="urn:microsoft.com/office/officeart/2018/2/layout/IconVerticalSolidList"/>
    <dgm:cxn modelId="{36F1A3F2-1486-45A3-BABC-835675436243}" type="presOf" srcId="{A3F00695-36A0-4FFA-88D5-15FCA585468E}" destId="{8A141E51-24CD-4771-8D5B-8C9DE070A5BD}" srcOrd="0" destOrd="1" presId="urn:microsoft.com/office/officeart/2018/2/layout/IconVerticalSolidList"/>
    <dgm:cxn modelId="{6B462B8B-79D4-4A4F-AB3A-AA7612B1E5FC}" type="presParOf" srcId="{CE15D2B6-BBEF-4CA0-B7FF-95BD95314FCC}" destId="{5C8D1A64-6992-4D14-B20B-F35D92339B0F}" srcOrd="0" destOrd="0" presId="urn:microsoft.com/office/officeart/2018/2/layout/IconVerticalSolidList"/>
    <dgm:cxn modelId="{ECD0F477-8741-4102-89A0-9DF8523698DD}" type="presParOf" srcId="{5C8D1A64-6992-4D14-B20B-F35D92339B0F}" destId="{C59142EC-4F6E-49A8-843F-D9E31B839347}" srcOrd="0" destOrd="0" presId="urn:microsoft.com/office/officeart/2018/2/layout/IconVerticalSolidList"/>
    <dgm:cxn modelId="{C1F9745F-E706-418B-9D1C-B99AD0A2360E}" type="presParOf" srcId="{5C8D1A64-6992-4D14-B20B-F35D92339B0F}" destId="{C5695ACF-89EC-4B2C-BA32-FEB63109C3AB}" srcOrd="1" destOrd="0" presId="urn:microsoft.com/office/officeart/2018/2/layout/IconVerticalSolidList"/>
    <dgm:cxn modelId="{4EBF9246-7D2E-4414-937D-16D26AA0D6D8}" type="presParOf" srcId="{5C8D1A64-6992-4D14-B20B-F35D92339B0F}" destId="{66BEB79A-6D0A-422E-A873-8A8F744D39CA}" srcOrd="2" destOrd="0" presId="urn:microsoft.com/office/officeart/2018/2/layout/IconVerticalSolidList"/>
    <dgm:cxn modelId="{8F4DD69B-8B58-49CC-9353-EAEBC487CA54}" type="presParOf" srcId="{5C8D1A64-6992-4D14-B20B-F35D92339B0F}" destId="{E903A53E-BBF4-4CA3-BC89-20695374C086}" srcOrd="3" destOrd="0" presId="urn:microsoft.com/office/officeart/2018/2/layout/IconVerticalSolidList"/>
    <dgm:cxn modelId="{00BFAF62-ED32-425F-B244-94213E24AEBD}" type="presParOf" srcId="{CE15D2B6-BBEF-4CA0-B7FF-95BD95314FCC}" destId="{FD447D0A-6FAB-426B-8B45-0E6F6E3F2D9B}" srcOrd="1" destOrd="0" presId="urn:microsoft.com/office/officeart/2018/2/layout/IconVerticalSolidList"/>
    <dgm:cxn modelId="{EF5C7AD5-2AFE-4D4A-974C-1B04F52400F4}" type="presParOf" srcId="{CE15D2B6-BBEF-4CA0-B7FF-95BD95314FCC}" destId="{D297D9D6-CBE4-4F2B-BF4F-FC50AA862921}" srcOrd="2" destOrd="0" presId="urn:microsoft.com/office/officeart/2018/2/layout/IconVerticalSolidList"/>
    <dgm:cxn modelId="{C5C38C87-D3F4-40EE-907C-0E9B40F06B43}" type="presParOf" srcId="{D297D9D6-CBE4-4F2B-BF4F-FC50AA862921}" destId="{CA9B8FDD-E385-42C0-AE61-0BFAFE01DEB1}" srcOrd="0" destOrd="0" presId="urn:microsoft.com/office/officeart/2018/2/layout/IconVerticalSolidList"/>
    <dgm:cxn modelId="{7FA7E418-242F-473E-8B62-EBBDE9D03DE8}" type="presParOf" srcId="{D297D9D6-CBE4-4F2B-BF4F-FC50AA862921}" destId="{15CB2072-7BD5-478E-A4A4-39AE1B4C3472}" srcOrd="1" destOrd="0" presId="urn:microsoft.com/office/officeart/2018/2/layout/IconVerticalSolidList"/>
    <dgm:cxn modelId="{27F47BEB-A281-40FC-9331-CA02AB37AD70}" type="presParOf" srcId="{D297D9D6-CBE4-4F2B-BF4F-FC50AA862921}" destId="{D060CEC0-0AEA-47C6-BD5E-0C7F208C3B71}" srcOrd="2" destOrd="0" presId="urn:microsoft.com/office/officeart/2018/2/layout/IconVerticalSolidList"/>
    <dgm:cxn modelId="{6B9F4802-63AD-4131-AA7D-4BA36791B098}" type="presParOf" srcId="{D297D9D6-CBE4-4F2B-BF4F-FC50AA862921}" destId="{39997479-6786-4A3C-B9A6-45BE8E7CC3AA}" srcOrd="3" destOrd="0" presId="urn:microsoft.com/office/officeart/2018/2/layout/IconVerticalSolidList"/>
    <dgm:cxn modelId="{C4FFC422-43E9-4312-9947-BFD0F823F495}" type="presParOf" srcId="{D297D9D6-CBE4-4F2B-BF4F-FC50AA862921}" destId="{8A141E51-24CD-4771-8D5B-8C9DE070A5BD}" srcOrd="4" destOrd="0" presId="urn:microsoft.com/office/officeart/2018/2/layout/IconVerticalSolidList"/>
    <dgm:cxn modelId="{ADE2325E-8926-4A9F-858C-3BB676554029}" type="presParOf" srcId="{CE15D2B6-BBEF-4CA0-B7FF-95BD95314FCC}" destId="{0BDC95A7-385C-4E26-9273-DB68CC56B4BC}" srcOrd="3" destOrd="0" presId="urn:microsoft.com/office/officeart/2018/2/layout/IconVerticalSolidList"/>
    <dgm:cxn modelId="{A5152919-E40F-4927-8E76-A768165CC8EB}" type="presParOf" srcId="{CE15D2B6-BBEF-4CA0-B7FF-95BD95314FCC}" destId="{51FFCD63-CD97-48A0-87C1-0C85EE2D2EBB}" srcOrd="4" destOrd="0" presId="urn:microsoft.com/office/officeart/2018/2/layout/IconVerticalSolidList"/>
    <dgm:cxn modelId="{213E2173-AC74-4616-98A4-BACBBEA0B1F4}" type="presParOf" srcId="{51FFCD63-CD97-48A0-87C1-0C85EE2D2EBB}" destId="{9897146B-A21D-4FAC-BE72-4AB6E91E159B}" srcOrd="0" destOrd="0" presId="urn:microsoft.com/office/officeart/2018/2/layout/IconVerticalSolidList"/>
    <dgm:cxn modelId="{1C52B586-BC87-462A-8386-275B7F03003A}" type="presParOf" srcId="{51FFCD63-CD97-48A0-87C1-0C85EE2D2EBB}" destId="{DFF76359-F8A6-4384-8F0C-30B65B29EFFA}" srcOrd="1" destOrd="0" presId="urn:microsoft.com/office/officeart/2018/2/layout/IconVerticalSolidList"/>
    <dgm:cxn modelId="{3438EFA4-3D87-4B07-84DD-6089D699EBA7}" type="presParOf" srcId="{51FFCD63-CD97-48A0-87C1-0C85EE2D2EBB}" destId="{B214888E-C6C4-4269-830A-AA04FCBD4D92}" srcOrd="2" destOrd="0" presId="urn:microsoft.com/office/officeart/2018/2/layout/IconVerticalSolidList"/>
    <dgm:cxn modelId="{CD4B7902-5ECC-42E9-BD99-E2F0A9A3824C}" type="presParOf" srcId="{51FFCD63-CD97-48A0-87C1-0C85EE2D2EBB}" destId="{E276C63C-0735-4844-B719-5F842AC19CC7}" srcOrd="3" destOrd="0" presId="urn:microsoft.com/office/officeart/2018/2/layout/IconVerticalSolidList"/>
    <dgm:cxn modelId="{60139D22-B613-471A-A68F-586B330A68EA}" type="presParOf" srcId="{51FFCD63-CD97-48A0-87C1-0C85EE2D2EBB}" destId="{F2C15A5D-A6F8-4436-BE45-5095558E0BDD}" srcOrd="4" destOrd="0" presId="urn:microsoft.com/office/officeart/2018/2/layout/IconVerticalSolidList"/>
    <dgm:cxn modelId="{B715063D-2FE7-4BEA-BC7C-CFBD5372589B}" type="presParOf" srcId="{CE15D2B6-BBEF-4CA0-B7FF-95BD95314FCC}" destId="{98720CD2-460F-46A8-B663-D94AC516C04E}" srcOrd="5" destOrd="0" presId="urn:microsoft.com/office/officeart/2018/2/layout/IconVerticalSolidList"/>
    <dgm:cxn modelId="{E5BB02EA-AEC4-4B05-A1A6-A460CBD42409}" type="presParOf" srcId="{CE15D2B6-BBEF-4CA0-B7FF-95BD95314FCC}" destId="{F0E33339-0BC6-4468-83BA-B62EBDD96EA8}" srcOrd="6" destOrd="0" presId="urn:microsoft.com/office/officeart/2018/2/layout/IconVerticalSolidList"/>
    <dgm:cxn modelId="{95B2EC59-4F29-4A79-9E17-65C1C9294586}" type="presParOf" srcId="{F0E33339-0BC6-4468-83BA-B62EBDD96EA8}" destId="{3C6F5C41-CFC7-482B-9485-04C9BC72784D}" srcOrd="0" destOrd="0" presId="urn:microsoft.com/office/officeart/2018/2/layout/IconVerticalSolidList"/>
    <dgm:cxn modelId="{50FC24E1-80A1-4DFE-98C8-C799C03E73A6}" type="presParOf" srcId="{F0E33339-0BC6-4468-83BA-B62EBDD96EA8}" destId="{2E83FF53-EC11-4AE6-AD3B-3B376D225FD7}" srcOrd="1" destOrd="0" presId="urn:microsoft.com/office/officeart/2018/2/layout/IconVerticalSolidList"/>
    <dgm:cxn modelId="{1AC593A7-C454-4FEA-AAA2-7154149408FD}" type="presParOf" srcId="{F0E33339-0BC6-4468-83BA-B62EBDD96EA8}" destId="{F73E1A61-F243-4C6F-A190-E69AC59A26CF}" srcOrd="2" destOrd="0" presId="urn:microsoft.com/office/officeart/2018/2/layout/IconVerticalSolidList"/>
    <dgm:cxn modelId="{BB7EDE55-D3EA-4861-86BA-5B56BECE1C43}" type="presParOf" srcId="{F0E33339-0BC6-4468-83BA-B62EBDD96EA8}" destId="{0A3CE954-A0E0-4BF9-93FB-72234042572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CAC54D7-FC4E-4F9F-B5B4-F170D1A45B3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8E02CC8-12E7-4807-993E-035726597D2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Perfil incompleto reduz conversão em TODOS os tipos de cupom</a:t>
          </a:r>
          <a:endParaRPr lang="en-US"/>
        </a:p>
      </dgm:t>
    </dgm:pt>
    <dgm:pt modelId="{8246885E-AF81-404E-932F-FC8E0D67DC96}" type="parTrans" cxnId="{09D17424-1E4A-47F6-B9BA-1A24289932F8}">
      <dgm:prSet/>
      <dgm:spPr/>
      <dgm:t>
        <a:bodyPr/>
        <a:lstStyle/>
        <a:p>
          <a:endParaRPr lang="en-US"/>
        </a:p>
      </dgm:t>
    </dgm:pt>
    <dgm:pt modelId="{AA9B0FAC-6BBE-442F-AF3E-92D13AE5E704}" type="sibTrans" cxnId="{09D17424-1E4A-47F6-B9BA-1A24289932F8}">
      <dgm:prSet/>
      <dgm:spPr/>
      <dgm:t>
        <a:bodyPr/>
        <a:lstStyle/>
        <a:p>
          <a:endParaRPr lang="en-US"/>
        </a:p>
      </dgm:t>
    </dgm:pt>
    <dgm:pt modelId="{C8C832D4-16C4-428B-A5D5-2C20655B75EC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Rede social é o canal mais forte para BOGO e Desconto,  mas tem pouco efeito no Informacional</a:t>
          </a:r>
          <a:endParaRPr lang="en-US"/>
        </a:p>
      </dgm:t>
    </dgm:pt>
    <dgm:pt modelId="{DABF505A-607C-4A06-BB45-759256ABF104}" type="parTrans" cxnId="{00ABB183-4524-4404-B1C3-C05500A164A1}">
      <dgm:prSet/>
      <dgm:spPr/>
      <dgm:t>
        <a:bodyPr/>
        <a:lstStyle/>
        <a:p>
          <a:endParaRPr lang="en-US"/>
        </a:p>
      </dgm:t>
    </dgm:pt>
    <dgm:pt modelId="{E7A30F7A-CF4F-4D45-B45E-204BD38A0F47}" type="sibTrans" cxnId="{00ABB183-4524-4404-B1C3-C05500A164A1}">
      <dgm:prSet/>
      <dgm:spPr/>
      <dgm:t>
        <a:bodyPr/>
        <a:lstStyle/>
        <a:p>
          <a:endParaRPr lang="en-US"/>
        </a:p>
      </dgm:t>
    </dgm:pt>
    <dgm:pt modelId="{639FE8A3-6353-40AC-90D7-D703C3FE04DE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Duração do cupom tem efeito OPOSTO entre os tipos: </a:t>
          </a:r>
          <a:endParaRPr lang="en-US"/>
        </a:p>
      </dgm:t>
    </dgm:pt>
    <dgm:pt modelId="{C24FD885-4152-441F-9B73-F482F785C179}" type="parTrans" cxnId="{9E10E9ED-6640-4946-8634-92A5E66F2F3D}">
      <dgm:prSet/>
      <dgm:spPr/>
      <dgm:t>
        <a:bodyPr/>
        <a:lstStyle/>
        <a:p>
          <a:endParaRPr lang="en-US"/>
        </a:p>
      </dgm:t>
    </dgm:pt>
    <dgm:pt modelId="{87F7F63F-F075-4695-964D-84FA32A2C992}" type="sibTrans" cxnId="{9E10E9ED-6640-4946-8634-92A5E66F2F3D}">
      <dgm:prSet/>
      <dgm:spPr/>
      <dgm:t>
        <a:bodyPr/>
        <a:lstStyle/>
        <a:p>
          <a:endParaRPr lang="en-US"/>
        </a:p>
      </dgm:t>
    </dgm:pt>
    <dgm:pt modelId="{07232290-89BA-4E5E-B5F7-84B1BC33EDFA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BOGO/Desconto: cupons mais longos convertem mais </a:t>
          </a:r>
          <a:endParaRPr lang="en-US" dirty="0"/>
        </a:p>
      </dgm:t>
    </dgm:pt>
    <dgm:pt modelId="{F1C55484-5B0B-486F-BA6A-5BC9B7EA6724}" type="parTrans" cxnId="{D6A10360-765F-4475-9654-6B302D216618}">
      <dgm:prSet/>
      <dgm:spPr/>
      <dgm:t>
        <a:bodyPr/>
        <a:lstStyle/>
        <a:p>
          <a:endParaRPr lang="en-US"/>
        </a:p>
      </dgm:t>
    </dgm:pt>
    <dgm:pt modelId="{4C822AA7-97FC-464D-A2CA-7DF1F5123FCF}" type="sibTrans" cxnId="{D6A10360-765F-4475-9654-6B302D216618}">
      <dgm:prSet/>
      <dgm:spPr/>
      <dgm:t>
        <a:bodyPr/>
        <a:lstStyle/>
        <a:p>
          <a:endParaRPr lang="en-US"/>
        </a:p>
      </dgm:t>
    </dgm:pt>
    <dgm:pt modelId="{F4938333-B121-42E1-ABCC-359545D9480C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Informacional: cupons mais curtos convertem mais </a:t>
          </a:r>
          <a:endParaRPr lang="en-US" dirty="0"/>
        </a:p>
      </dgm:t>
    </dgm:pt>
    <dgm:pt modelId="{2FA5CDF6-367B-40A5-8AF1-A32153EFFFC3}" type="parTrans" cxnId="{042410EC-2B08-439A-8FA1-253B207C907E}">
      <dgm:prSet/>
      <dgm:spPr/>
      <dgm:t>
        <a:bodyPr/>
        <a:lstStyle/>
        <a:p>
          <a:endParaRPr lang="en-US"/>
        </a:p>
      </dgm:t>
    </dgm:pt>
    <dgm:pt modelId="{1BD7F455-01D0-4064-BBC7-71FDF1F6D7D3}" type="sibTrans" cxnId="{042410EC-2B08-439A-8FA1-253B207C907E}">
      <dgm:prSet/>
      <dgm:spPr/>
      <dgm:t>
        <a:bodyPr/>
        <a:lstStyle/>
        <a:p>
          <a:endParaRPr lang="en-US"/>
        </a:p>
      </dgm:t>
    </dgm:pt>
    <dgm:pt modelId="{1F41F2C5-E773-48CB-B1FB-B749EDB72F0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Limite de cartão de crédito também se comporta de forma oposta: </a:t>
          </a:r>
          <a:endParaRPr lang="en-US"/>
        </a:p>
      </dgm:t>
    </dgm:pt>
    <dgm:pt modelId="{8A5D240E-D141-47C7-8C57-75A66A57A3BB}" type="parTrans" cxnId="{AA7274F6-ECBB-4CC0-9B76-670BCEA4D82C}">
      <dgm:prSet/>
      <dgm:spPr/>
      <dgm:t>
        <a:bodyPr/>
        <a:lstStyle/>
        <a:p>
          <a:endParaRPr lang="en-US"/>
        </a:p>
      </dgm:t>
    </dgm:pt>
    <dgm:pt modelId="{5E7B49C7-876F-4626-8539-B119976587BF}" type="sibTrans" cxnId="{AA7274F6-ECBB-4CC0-9B76-670BCEA4D82C}">
      <dgm:prSet/>
      <dgm:spPr/>
      <dgm:t>
        <a:bodyPr/>
        <a:lstStyle/>
        <a:p>
          <a:endParaRPr lang="en-US"/>
        </a:p>
      </dgm:t>
    </dgm:pt>
    <dgm:pt modelId="{4CE132F9-0250-435B-9159-0DCDE73D8C8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BOGO/Desconto: quanto maior o limite, maior a conversão </a:t>
          </a:r>
          <a:endParaRPr lang="en-US"/>
        </a:p>
      </dgm:t>
    </dgm:pt>
    <dgm:pt modelId="{AF662F7B-1EFC-445A-9487-D443D228730B}" type="parTrans" cxnId="{F1D40D62-074B-4681-90ED-115460366289}">
      <dgm:prSet/>
      <dgm:spPr/>
      <dgm:t>
        <a:bodyPr/>
        <a:lstStyle/>
        <a:p>
          <a:endParaRPr lang="en-US"/>
        </a:p>
      </dgm:t>
    </dgm:pt>
    <dgm:pt modelId="{0FF80981-88D1-48EB-A6E7-4420C8E89035}" type="sibTrans" cxnId="{F1D40D62-074B-4681-90ED-115460366289}">
      <dgm:prSet/>
      <dgm:spPr/>
      <dgm:t>
        <a:bodyPr/>
        <a:lstStyle/>
        <a:p>
          <a:endParaRPr lang="en-US"/>
        </a:p>
      </dgm:t>
    </dgm:pt>
    <dgm:pt modelId="{C8F9A570-5A6D-4A5B-B70C-BB7A5D713F5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Informacional: quanto maior o limite, menor a conversão  </a:t>
          </a:r>
          <a:endParaRPr lang="en-US"/>
        </a:p>
      </dgm:t>
    </dgm:pt>
    <dgm:pt modelId="{31505FE6-96D1-4AC8-A364-AB5ABBE2E682}" type="parTrans" cxnId="{F0CC3231-F43F-4C31-926C-15AF65485AE0}">
      <dgm:prSet/>
      <dgm:spPr/>
      <dgm:t>
        <a:bodyPr/>
        <a:lstStyle/>
        <a:p>
          <a:endParaRPr lang="en-US"/>
        </a:p>
      </dgm:t>
    </dgm:pt>
    <dgm:pt modelId="{0663FE29-1DB9-462B-B7F1-C4CF5B8727D2}" type="sibTrans" cxnId="{F0CC3231-F43F-4C31-926C-15AF65485AE0}">
      <dgm:prSet/>
      <dgm:spPr/>
      <dgm:t>
        <a:bodyPr/>
        <a:lstStyle/>
        <a:p>
          <a:endParaRPr lang="en-US"/>
        </a:p>
      </dgm:t>
    </dgm:pt>
    <dgm:pt modelId="{0A894E00-26B6-4278-8E97-194E8FA7A32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BOGO é o tipo mais difícil de prever -&gt; fatores fora do </a:t>
          </a:r>
          <a:r>
            <a:rPr lang="pt-BR" dirty="0" err="1"/>
            <a:t>dataset</a:t>
          </a:r>
          <a:r>
            <a:rPr lang="pt-BR" dirty="0"/>
            <a:t> atual podem ter mais peso que o perfil do cliente</a:t>
          </a:r>
          <a:endParaRPr lang="en-US" dirty="0"/>
        </a:p>
      </dgm:t>
    </dgm:pt>
    <dgm:pt modelId="{737DE9C1-3F55-4F64-8DDD-83329A0008C4}" type="parTrans" cxnId="{E8BD1D7F-6BF8-486F-9B58-3C578130415C}">
      <dgm:prSet/>
      <dgm:spPr/>
      <dgm:t>
        <a:bodyPr/>
        <a:lstStyle/>
        <a:p>
          <a:endParaRPr lang="en-US"/>
        </a:p>
      </dgm:t>
    </dgm:pt>
    <dgm:pt modelId="{DB6A35AF-5E53-4AA9-9F11-7397EEBC09B2}" type="sibTrans" cxnId="{E8BD1D7F-6BF8-486F-9B58-3C578130415C}">
      <dgm:prSet/>
      <dgm:spPr/>
      <dgm:t>
        <a:bodyPr/>
        <a:lstStyle/>
        <a:p>
          <a:endParaRPr lang="en-US"/>
        </a:p>
      </dgm:t>
    </dgm:pt>
    <dgm:pt modelId="{0CF14370-CC17-44FB-AD9D-897A23FB6B71}" type="pres">
      <dgm:prSet presAssocID="{BCAC54D7-FC4E-4F9F-B5B4-F170D1A45B32}" presName="root" presStyleCnt="0">
        <dgm:presLayoutVars>
          <dgm:dir/>
          <dgm:resizeHandles val="exact"/>
        </dgm:presLayoutVars>
      </dgm:prSet>
      <dgm:spPr/>
    </dgm:pt>
    <dgm:pt modelId="{1BC6E54D-7A7F-4F7E-9947-163A5FE1A4A9}" type="pres">
      <dgm:prSet presAssocID="{48E02CC8-12E7-4807-993E-035726597D22}" presName="compNode" presStyleCnt="0"/>
      <dgm:spPr/>
    </dgm:pt>
    <dgm:pt modelId="{56A3E40B-D38F-4FB0-94D3-E79F0B4C7C4D}" type="pres">
      <dgm:prSet presAssocID="{48E02CC8-12E7-4807-993E-035726597D22}" presName="bgRect" presStyleLbl="bgShp" presStyleIdx="0" presStyleCnt="5"/>
      <dgm:spPr/>
    </dgm:pt>
    <dgm:pt modelId="{D4D3D9D9-C272-46E0-A6E5-8596DAC99A06}" type="pres">
      <dgm:prSet presAssocID="{48E02CC8-12E7-4807-993E-035726597D22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nheiro"/>
        </a:ext>
      </dgm:extLst>
    </dgm:pt>
    <dgm:pt modelId="{B1AB47CB-67EB-4D72-92DD-3F0C28CE3242}" type="pres">
      <dgm:prSet presAssocID="{48E02CC8-12E7-4807-993E-035726597D22}" presName="spaceRect" presStyleCnt="0"/>
      <dgm:spPr/>
    </dgm:pt>
    <dgm:pt modelId="{D2E1DFB0-EC6C-4F9F-8AC1-1D02B8955816}" type="pres">
      <dgm:prSet presAssocID="{48E02CC8-12E7-4807-993E-035726597D22}" presName="parTx" presStyleLbl="revTx" presStyleIdx="0" presStyleCnt="7">
        <dgm:presLayoutVars>
          <dgm:chMax val="0"/>
          <dgm:chPref val="0"/>
        </dgm:presLayoutVars>
      </dgm:prSet>
      <dgm:spPr/>
    </dgm:pt>
    <dgm:pt modelId="{9EC0BBC8-9942-46E3-A7D7-EE799DBC1ED3}" type="pres">
      <dgm:prSet presAssocID="{AA9B0FAC-6BBE-442F-AF3E-92D13AE5E704}" presName="sibTrans" presStyleCnt="0"/>
      <dgm:spPr/>
    </dgm:pt>
    <dgm:pt modelId="{CFAAAE63-999F-474A-9797-C623D1B44874}" type="pres">
      <dgm:prSet presAssocID="{C8C832D4-16C4-428B-A5D5-2C20655B75EC}" presName="compNode" presStyleCnt="0"/>
      <dgm:spPr/>
    </dgm:pt>
    <dgm:pt modelId="{B8224900-C739-4B93-B4AC-70155A01B9C8}" type="pres">
      <dgm:prSet presAssocID="{C8C832D4-16C4-428B-A5D5-2C20655B75EC}" presName="bgRect" presStyleLbl="bgShp" presStyleIdx="1" presStyleCnt="5"/>
      <dgm:spPr/>
    </dgm:pt>
    <dgm:pt modelId="{DF87C8E8-61A3-49BD-B621-12C2A8506EA2}" type="pres">
      <dgm:prSet presAssocID="{C8C832D4-16C4-428B-A5D5-2C20655B75EC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D5FD83AD-6494-49CA-AE50-61B0588BFD40}" type="pres">
      <dgm:prSet presAssocID="{C8C832D4-16C4-428B-A5D5-2C20655B75EC}" presName="spaceRect" presStyleCnt="0"/>
      <dgm:spPr/>
    </dgm:pt>
    <dgm:pt modelId="{5C07B6D9-FC08-409F-A98F-BF9A4AFA0C71}" type="pres">
      <dgm:prSet presAssocID="{C8C832D4-16C4-428B-A5D5-2C20655B75EC}" presName="parTx" presStyleLbl="revTx" presStyleIdx="1" presStyleCnt="7">
        <dgm:presLayoutVars>
          <dgm:chMax val="0"/>
          <dgm:chPref val="0"/>
        </dgm:presLayoutVars>
      </dgm:prSet>
      <dgm:spPr/>
    </dgm:pt>
    <dgm:pt modelId="{E9EF670B-D0DE-4D71-AF51-1ED81E027DCE}" type="pres">
      <dgm:prSet presAssocID="{E7A30F7A-CF4F-4D45-B45E-204BD38A0F47}" presName="sibTrans" presStyleCnt="0"/>
      <dgm:spPr/>
    </dgm:pt>
    <dgm:pt modelId="{CC3988E5-54D4-4579-B4E6-49E070296384}" type="pres">
      <dgm:prSet presAssocID="{639FE8A3-6353-40AC-90D7-D703C3FE04DE}" presName="compNode" presStyleCnt="0"/>
      <dgm:spPr/>
    </dgm:pt>
    <dgm:pt modelId="{13EF8E5D-9C0E-4F39-88E0-A5F86C052824}" type="pres">
      <dgm:prSet presAssocID="{639FE8A3-6353-40AC-90D7-D703C3FE04DE}" presName="bgRect" presStyleLbl="bgShp" presStyleIdx="2" presStyleCnt="5"/>
      <dgm:spPr/>
    </dgm:pt>
    <dgm:pt modelId="{DB5D92DA-4937-47E2-BC29-A295AD6E1018}" type="pres">
      <dgm:prSet presAssocID="{639FE8A3-6353-40AC-90D7-D703C3FE04DE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ótulo"/>
        </a:ext>
      </dgm:extLst>
    </dgm:pt>
    <dgm:pt modelId="{8495D938-4581-4551-905A-69925B3A1F13}" type="pres">
      <dgm:prSet presAssocID="{639FE8A3-6353-40AC-90D7-D703C3FE04DE}" presName="spaceRect" presStyleCnt="0"/>
      <dgm:spPr/>
    </dgm:pt>
    <dgm:pt modelId="{E8BAC861-C39F-459D-8598-33C37927A477}" type="pres">
      <dgm:prSet presAssocID="{639FE8A3-6353-40AC-90D7-D703C3FE04DE}" presName="parTx" presStyleLbl="revTx" presStyleIdx="2" presStyleCnt="7">
        <dgm:presLayoutVars>
          <dgm:chMax val="0"/>
          <dgm:chPref val="0"/>
        </dgm:presLayoutVars>
      </dgm:prSet>
      <dgm:spPr/>
    </dgm:pt>
    <dgm:pt modelId="{8EAE8D1D-65BB-40CA-85EC-A9E239D2E874}" type="pres">
      <dgm:prSet presAssocID="{639FE8A3-6353-40AC-90D7-D703C3FE04DE}" presName="desTx" presStyleLbl="revTx" presStyleIdx="3" presStyleCnt="7">
        <dgm:presLayoutVars/>
      </dgm:prSet>
      <dgm:spPr/>
    </dgm:pt>
    <dgm:pt modelId="{3385D2BD-3A66-40FC-97F3-A1E00F34E0EA}" type="pres">
      <dgm:prSet presAssocID="{87F7F63F-F075-4695-964D-84FA32A2C992}" presName="sibTrans" presStyleCnt="0"/>
      <dgm:spPr/>
    </dgm:pt>
    <dgm:pt modelId="{BDFD2B5E-16B6-463F-820E-0F858A76BF30}" type="pres">
      <dgm:prSet presAssocID="{1F41F2C5-E773-48CB-B1FB-B749EDB72F08}" presName="compNode" presStyleCnt="0"/>
      <dgm:spPr/>
    </dgm:pt>
    <dgm:pt modelId="{658E7918-2039-449B-A51D-29CE0EE20636}" type="pres">
      <dgm:prSet presAssocID="{1F41F2C5-E773-48CB-B1FB-B749EDB72F08}" presName="bgRect" presStyleLbl="bgShp" presStyleIdx="3" presStyleCnt="5"/>
      <dgm:spPr/>
    </dgm:pt>
    <dgm:pt modelId="{B67A05A7-6EF4-4E0E-8F55-175BECB2FE6E}" type="pres">
      <dgm:prSet presAssocID="{1F41F2C5-E773-48CB-B1FB-B749EDB72F08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co"/>
        </a:ext>
      </dgm:extLst>
    </dgm:pt>
    <dgm:pt modelId="{F84459AB-38A2-4312-AE9D-6465A6162EF3}" type="pres">
      <dgm:prSet presAssocID="{1F41F2C5-E773-48CB-B1FB-B749EDB72F08}" presName="spaceRect" presStyleCnt="0"/>
      <dgm:spPr/>
    </dgm:pt>
    <dgm:pt modelId="{F6D4FD6C-B3BC-456E-A32E-ADB3D02EFAB7}" type="pres">
      <dgm:prSet presAssocID="{1F41F2C5-E773-48CB-B1FB-B749EDB72F08}" presName="parTx" presStyleLbl="revTx" presStyleIdx="4" presStyleCnt="7">
        <dgm:presLayoutVars>
          <dgm:chMax val="0"/>
          <dgm:chPref val="0"/>
        </dgm:presLayoutVars>
      </dgm:prSet>
      <dgm:spPr/>
    </dgm:pt>
    <dgm:pt modelId="{543F658A-D7B1-427F-A580-5636853B4710}" type="pres">
      <dgm:prSet presAssocID="{1F41F2C5-E773-48CB-B1FB-B749EDB72F08}" presName="desTx" presStyleLbl="revTx" presStyleIdx="5" presStyleCnt="7">
        <dgm:presLayoutVars/>
      </dgm:prSet>
      <dgm:spPr/>
    </dgm:pt>
    <dgm:pt modelId="{B044B19F-47D5-405E-9C10-7F874415F530}" type="pres">
      <dgm:prSet presAssocID="{5E7B49C7-876F-4626-8539-B119976587BF}" presName="sibTrans" presStyleCnt="0"/>
      <dgm:spPr/>
    </dgm:pt>
    <dgm:pt modelId="{9EA29FE1-D517-41B3-B77B-4B506CE05AA6}" type="pres">
      <dgm:prSet presAssocID="{0A894E00-26B6-4278-8E97-194E8FA7A328}" presName="compNode" presStyleCnt="0"/>
      <dgm:spPr/>
    </dgm:pt>
    <dgm:pt modelId="{28C8C15D-A9FB-447F-B0E3-9540C2FAB6AE}" type="pres">
      <dgm:prSet presAssocID="{0A894E00-26B6-4278-8E97-194E8FA7A328}" presName="bgRect" presStyleLbl="bgShp" presStyleIdx="4" presStyleCnt="5"/>
      <dgm:spPr/>
    </dgm:pt>
    <dgm:pt modelId="{8CF205A8-D4C0-4ED1-BABF-AB2AD8C82249}" type="pres">
      <dgm:prSet presAssocID="{0A894E00-26B6-4278-8E97-194E8FA7A328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A180B453-1353-4A9E-8036-7971E0A032C6}" type="pres">
      <dgm:prSet presAssocID="{0A894E00-26B6-4278-8E97-194E8FA7A328}" presName="spaceRect" presStyleCnt="0"/>
      <dgm:spPr/>
    </dgm:pt>
    <dgm:pt modelId="{A21B9F9B-2B83-4E0C-AB3C-40EB3CA17F62}" type="pres">
      <dgm:prSet presAssocID="{0A894E00-26B6-4278-8E97-194E8FA7A328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6C727610-A637-4A99-BB4E-3A784B0D2A81}" type="presOf" srcId="{0A894E00-26B6-4278-8E97-194E8FA7A328}" destId="{A21B9F9B-2B83-4E0C-AB3C-40EB3CA17F62}" srcOrd="0" destOrd="0" presId="urn:microsoft.com/office/officeart/2018/2/layout/IconVerticalSolidList"/>
    <dgm:cxn modelId="{52B9781E-BB9F-4611-AAF0-A3068CE2F446}" type="presOf" srcId="{F4938333-B121-42E1-ABCC-359545D9480C}" destId="{8EAE8D1D-65BB-40CA-85EC-A9E239D2E874}" srcOrd="0" destOrd="1" presId="urn:microsoft.com/office/officeart/2018/2/layout/IconVerticalSolidList"/>
    <dgm:cxn modelId="{09D17424-1E4A-47F6-B9BA-1A24289932F8}" srcId="{BCAC54D7-FC4E-4F9F-B5B4-F170D1A45B32}" destId="{48E02CC8-12E7-4807-993E-035726597D22}" srcOrd="0" destOrd="0" parTransId="{8246885E-AF81-404E-932F-FC8E0D67DC96}" sibTransId="{AA9B0FAC-6BBE-442F-AF3E-92D13AE5E704}"/>
    <dgm:cxn modelId="{F0CC3231-F43F-4C31-926C-15AF65485AE0}" srcId="{1F41F2C5-E773-48CB-B1FB-B749EDB72F08}" destId="{C8F9A570-5A6D-4A5B-B70C-BB7A5D713F58}" srcOrd="1" destOrd="0" parTransId="{31505FE6-96D1-4AC8-A364-AB5ABBE2E682}" sibTransId="{0663FE29-1DB9-462B-B7F1-C4CF5B8727D2}"/>
    <dgm:cxn modelId="{D6A10360-765F-4475-9654-6B302D216618}" srcId="{639FE8A3-6353-40AC-90D7-D703C3FE04DE}" destId="{07232290-89BA-4E5E-B5F7-84B1BC33EDFA}" srcOrd="0" destOrd="0" parTransId="{F1C55484-5B0B-486F-BA6A-5BC9B7EA6724}" sibTransId="{4C822AA7-97FC-464D-A2CA-7DF1F5123FCF}"/>
    <dgm:cxn modelId="{F1D40D62-074B-4681-90ED-115460366289}" srcId="{1F41F2C5-E773-48CB-B1FB-B749EDB72F08}" destId="{4CE132F9-0250-435B-9159-0DCDE73D8C88}" srcOrd="0" destOrd="0" parTransId="{AF662F7B-1EFC-445A-9487-D443D228730B}" sibTransId="{0FF80981-88D1-48EB-A6E7-4420C8E89035}"/>
    <dgm:cxn modelId="{358AAA68-5F34-41ED-B858-F8F719525DAF}" type="presOf" srcId="{1F41F2C5-E773-48CB-B1FB-B749EDB72F08}" destId="{F6D4FD6C-B3BC-456E-A32E-ADB3D02EFAB7}" srcOrd="0" destOrd="0" presId="urn:microsoft.com/office/officeart/2018/2/layout/IconVerticalSolidList"/>
    <dgm:cxn modelId="{B76F806E-401C-4859-9281-60A2E4635180}" type="presOf" srcId="{BCAC54D7-FC4E-4F9F-B5B4-F170D1A45B32}" destId="{0CF14370-CC17-44FB-AD9D-897A23FB6B71}" srcOrd="0" destOrd="0" presId="urn:microsoft.com/office/officeart/2018/2/layout/IconVerticalSolidList"/>
    <dgm:cxn modelId="{4D36CC52-AEE5-40BB-A2B0-C8524F9F7BF5}" type="presOf" srcId="{48E02CC8-12E7-4807-993E-035726597D22}" destId="{D2E1DFB0-EC6C-4F9F-8AC1-1D02B8955816}" srcOrd="0" destOrd="0" presId="urn:microsoft.com/office/officeart/2018/2/layout/IconVerticalSolidList"/>
    <dgm:cxn modelId="{CFA9F575-37A6-42BE-B9DE-AD861520F475}" type="presOf" srcId="{4CE132F9-0250-435B-9159-0DCDE73D8C88}" destId="{543F658A-D7B1-427F-A580-5636853B4710}" srcOrd="0" destOrd="0" presId="urn:microsoft.com/office/officeart/2018/2/layout/IconVerticalSolidList"/>
    <dgm:cxn modelId="{E8BD1D7F-6BF8-486F-9B58-3C578130415C}" srcId="{BCAC54D7-FC4E-4F9F-B5B4-F170D1A45B32}" destId="{0A894E00-26B6-4278-8E97-194E8FA7A328}" srcOrd="4" destOrd="0" parTransId="{737DE9C1-3F55-4F64-8DDD-83329A0008C4}" sibTransId="{DB6A35AF-5E53-4AA9-9F11-7397EEBC09B2}"/>
    <dgm:cxn modelId="{00ABB183-4524-4404-B1C3-C05500A164A1}" srcId="{BCAC54D7-FC4E-4F9F-B5B4-F170D1A45B32}" destId="{C8C832D4-16C4-428B-A5D5-2C20655B75EC}" srcOrd="1" destOrd="0" parTransId="{DABF505A-607C-4A06-BB45-759256ABF104}" sibTransId="{E7A30F7A-CF4F-4D45-B45E-204BD38A0F47}"/>
    <dgm:cxn modelId="{680027A4-56A1-42EF-8100-417341CA73CC}" type="presOf" srcId="{C8F9A570-5A6D-4A5B-B70C-BB7A5D713F58}" destId="{543F658A-D7B1-427F-A580-5636853B4710}" srcOrd="0" destOrd="1" presId="urn:microsoft.com/office/officeart/2018/2/layout/IconVerticalSolidList"/>
    <dgm:cxn modelId="{2680ABAA-FFBA-4CA7-A18E-C31E9D5F4734}" type="presOf" srcId="{C8C832D4-16C4-428B-A5D5-2C20655B75EC}" destId="{5C07B6D9-FC08-409F-A98F-BF9A4AFA0C71}" srcOrd="0" destOrd="0" presId="urn:microsoft.com/office/officeart/2018/2/layout/IconVerticalSolidList"/>
    <dgm:cxn modelId="{5264EFDC-6C13-4062-B429-834AE147AA81}" type="presOf" srcId="{639FE8A3-6353-40AC-90D7-D703C3FE04DE}" destId="{E8BAC861-C39F-459D-8598-33C37927A477}" srcOrd="0" destOrd="0" presId="urn:microsoft.com/office/officeart/2018/2/layout/IconVerticalSolidList"/>
    <dgm:cxn modelId="{0EAC20E6-0BCB-4691-8997-59B042975280}" type="presOf" srcId="{07232290-89BA-4E5E-B5F7-84B1BC33EDFA}" destId="{8EAE8D1D-65BB-40CA-85EC-A9E239D2E874}" srcOrd="0" destOrd="0" presId="urn:microsoft.com/office/officeart/2018/2/layout/IconVerticalSolidList"/>
    <dgm:cxn modelId="{042410EC-2B08-439A-8FA1-253B207C907E}" srcId="{639FE8A3-6353-40AC-90D7-D703C3FE04DE}" destId="{F4938333-B121-42E1-ABCC-359545D9480C}" srcOrd="1" destOrd="0" parTransId="{2FA5CDF6-367B-40A5-8AF1-A32153EFFFC3}" sibTransId="{1BD7F455-01D0-4064-BBC7-71FDF1F6D7D3}"/>
    <dgm:cxn modelId="{9E10E9ED-6640-4946-8634-92A5E66F2F3D}" srcId="{BCAC54D7-FC4E-4F9F-B5B4-F170D1A45B32}" destId="{639FE8A3-6353-40AC-90D7-D703C3FE04DE}" srcOrd="2" destOrd="0" parTransId="{C24FD885-4152-441F-9B73-F482F785C179}" sibTransId="{87F7F63F-F075-4695-964D-84FA32A2C992}"/>
    <dgm:cxn modelId="{AA7274F6-ECBB-4CC0-9B76-670BCEA4D82C}" srcId="{BCAC54D7-FC4E-4F9F-B5B4-F170D1A45B32}" destId="{1F41F2C5-E773-48CB-B1FB-B749EDB72F08}" srcOrd="3" destOrd="0" parTransId="{8A5D240E-D141-47C7-8C57-75A66A57A3BB}" sibTransId="{5E7B49C7-876F-4626-8539-B119976587BF}"/>
    <dgm:cxn modelId="{79F29348-894C-46DD-9927-C005BE1BE5D4}" type="presParOf" srcId="{0CF14370-CC17-44FB-AD9D-897A23FB6B71}" destId="{1BC6E54D-7A7F-4F7E-9947-163A5FE1A4A9}" srcOrd="0" destOrd="0" presId="urn:microsoft.com/office/officeart/2018/2/layout/IconVerticalSolidList"/>
    <dgm:cxn modelId="{00481093-B5C5-4010-B521-CDCF91503099}" type="presParOf" srcId="{1BC6E54D-7A7F-4F7E-9947-163A5FE1A4A9}" destId="{56A3E40B-D38F-4FB0-94D3-E79F0B4C7C4D}" srcOrd="0" destOrd="0" presId="urn:microsoft.com/office/officeart/2018/2/layout/IconVerticalSolidList"/>
    <dgm:cxn modelId="{33EEF62D-C7A1-453F-84F6-83D73C759379}" type="presParOf" srcId="{1BC6E54D-7A7F-4F7E-9947-163A5FE1A4A9}" destId="{D4D3D9D9-C272-46E0-A6E5-8596DAC99A06}" srcOrd="1" destOrd="0" presId="urn:microsoft.com/office/officeart/2018/2/layout/IconVerticalSolidList"/>
    <dgm:cxn modelId="{0EEB9957-1185-4E58-B198-83CB4C626169}" type="presParOf" srcId="{1BC6E54D-7A7F-4F7E-9947-163A5FE1A4A9}" destId="{B1AB47CB-67EB-4D72-92DD-3F0C28CE3242}" srcOrd="2" destOrd="0" presId="urn:microsoft.com/office/officeart/2018/2/layout/IconVerticalSolidList"/>
    <dgm:cxn modelId="{0F1480C0-2942-40A9-8E37-29460F8624B5}" type="presParOf" srcId="{1BC6E54D-7A7F-4F7E-9947-163A5FE1A4A9}" destId="{D2E1DFB0-EC6C-4F9F-8AC1-1D02B8955816}" srcOrd="3" destOrd="0" presId="urn:microsoft.com/office/officeart/2018/2/layout/IconVerticalSolidList"/>
    <dgm:cxn modelId="{31834B15-DE9B-4CC4-8837-BB913A635A7E}" type="presParOf" srcId="{0CF14370-CC17-44FB-AD9D-897A23FB6B71}" destId="{9EC0BBC8-9942-46E3-A7D7-EE799DBC1ED3}" srcOrd="1" destOrd="0" presId="urn:microsoft.com/office/officeart/2018/2/layout/IconVerticalSolidList"/>
    <dgm:cxn modelId="{53F4200D-54EB-4D54-BB29-1972900BA923}" type="presParOf" srcId="{0CF14370-CC17-44FB-AD9D-897A23FB6B71}" destId="{CFAAAE63-999F-474A-9797-C623D1B44874}" srcOrd="2" destOrd="0" presId="urn:microsoft.com/office/officeart/2018/2/layout/IconVerticalSolidList"/>
    <dgm:cxn modelId="{431F6C7B-EBB4-4C42-A08B-DB91CC0A79B3}" type="presParOf" srcId="{CFAAAE63-999F-474A-9797-C623D1B44874}" destId="{B8224900-C739-4B93-B4AC-70155A01B9C8}" srcOrd="0" destOrd="0" presId="urn:microsoft.com/office/officeart/2018/2/layout/IconVerticalSolidList"/>
    <dgm:cxn modelId="{AAD76490-B850-4816-9219-2A5A5745B8D4}" type="presParOf" srcId="{CFAAAE63-999F-474A-9797-C623D1B44874}" destId="{DF87C8E8-61A3-49BD-B621-12C2A8506EA2}" srcOrd="1" destOrd="0" presId="urn:microsoft.com/office/officeart/2018/2/layout/IconVerticalSolidList"/>
    <dgm:cxn modelId="{170061D5-7FA6-4DF6-ABC2-0A34EA1FD35D}" type="presParOf" srcId="{CFAAAE63-999F-474A-9797-C623D1B44874}" destId="{D5FD83AD-6494-49CA-AE50-61B0588BFD40}" srcOrd="2" destOrd="0" presId="urn:microsoft.com/office/officeart/2018/2/layout/IconVerticalSolidList"/>
    <dgm:cxn modelId="{06C2CEDA-3309-46F4-83BE-AEAD6A5D747B}" type="presParOf" srcId="{CFAAAE63-999F-474A-9797-C623D1B44874}" destId="{5C07B6D9-FC08-409F-A98F-BF9A4AFA0C71}" srcOrd="3" destOrd="0" presId="urn:microsoft.com/office/officeart/2018/2/layout/IconVerticalSolidList"/>
    <dgm:cxn modelId="{DD213591-D27B-427C-8258-B7B954D911E0}" type="presParOf" srcId="{0CF14370-CC17-44FB-AD9D-897A23FB6B71}" destId="{E9EF670B-D0DE-4D71-AF51-1ED81E027DCE}" srcOrd="3" destOrd="0" presId="urn:microsoft.com/office/officeart/2018/2/layout/IconVerticalSolidList"/>
    <dgm:cxn modelId="{18E0B161-51CB-4603-93E5-8E151CA70FE7}" type="presParOf" srcId="{0CF14370-CC17-44FB-AD9D-897A23FB6B71}" destId="{CC3988E5-54D4-4579-B4E6-49E070296384}" srcOrd="4" destOrd="0" presId="urn:microsoft.com/office/officeart/2018/2/layout/IconVerticalSolidList"/>
    <dgm:cxn modelId="{CA949913-E023-4257-811C-10F987757201}" type="presParOf" srcId="{CC3988E5-54D4-4579-B4E6-49E070296384}" destId="{13EF8E5D-9C0E-4F39-88E0-A5F86C052824}" srcOrd="0" destOrd="0" presId="urn:microsoft.com/office/officeart/2018/2/layout/IconVerticalSolidList"/>
    <dgm:cxn modelId="{712E20AA-DBAD-411F-B185-DC1AD554E8C6}" type="presParOf" srcId="{CC3988E5-54D4-4579-B4E6-49E070296384}" destId="{DB5D92DA-4937-47E2-BC29-A295AD6E1018}" srcOrd="1" destOrd="0" presId="urn:microsoft.com/office/officeart/2018/2/layout/IconVerticalSolidList"/>
    <dgm:cxn modelId="{BE35461D-4D66-43D6-AE6A-07E66661F731}" type="presParOf" srcId="{CC3988E5-54D4-4579-B4E6-49E070296384}" destId="{8495D938-4581-4551-905A-69925B3A1F13}" srcOrd="2" destOrd="0" presId="urn:microsoft.com/office/officeart/2018/2/layout/IconVerticalSolidList"/>
    <dgm:cxn modelId="{BA18992F-094C-4EE5-B012-6C73ECA14B4F}" type="presParOf" srcId="{CC3988E5-54D4-4579-B4E6-49E070296384}" destId="{E8BAC861-C39F-459D-8598-33C37927A477}" srcOrd="3" destOrd="0" presId="urn:microsoft.com/office/officeart/2018/2/layout/IconVerticalSolidList"/>
    <dgm:cxn modelId="{3DDB8567-1343-4C99-BB19-E724F93E4C47}" type="presParOf" srcId="{CC3988E5-54D4-4579-B4E6-49E070296384}" destId="{8EAE8D1D-65BB-40CA-85EC-A9E239D2E874}" srcOrd="4" destOrd="0" presId="urn:microsoft.com/office/officeart/2018/2/layout/IconVerticalSolidList"/>
    <dgm:cxn modelId="{814988F9-5A8A-4A38-9CD5-5482CC9CA8EF}" type="presParOf" srcId="{0CF14370-CC17-44FB-AD9D-897A23FB6B71}" destId="{3385D2BD-3A66-40FC-97F3-A1E00F34E0EA}" srcOrd="5" destOrd="0" presId="urn:microsoft.com/office/officeart/2018/2/layout/IconVerticalSolidList"/>
    <dgm:cxn modelId="{93A2D1FE-8242-4119-AA8B-D992E32A80FB}" type="presParOf" srcId="{0CF14370-CC17-44FB-AD9D-897A23FB6B71}" destId="{BDFD2B5E-16B6-463F-820E-0F858A76BF30}" srcOrd="6" destOrd="0" presId="urn:microsoft.com/office/officeart/2018/2/layout/IconVerticalSolidList"/>
    <dgm:cxn modelId="{67A6F118-BC59-4291-86E1-552F86DC927D}" type="presParOf" srcId="{BDFD2B5E-16B6-463F-820E-0F858A76BF30}" destId="{658E7918-2039-449B-A51D-29CE0EE20636}" srcOrd="0" destOrd="0" presId="urn:microsoft.com/office/officeart/2018/2/layout/IconVerticalSolidList"/>
    <dgm:cxn modelId="{64818D7D-BAB0-4A1B-BB7D-E729946C2B08}" type="presParOf" srcId="{BDFD2B5E-16B6-463F-820E-0F858A76BF30}" destId="{B67A05A7-6EF4-4E0E-8F55-175BECB2FE6E}" srcOrd="1" destOrd="0" presId="urn:microsoft.com/office/officeart/2018/2/layout/IconVerticalSolidList"/>
    <dgm:cxn modelId="{1A5DAE1D-3064-49F3-8344-2B0F26762DC4}" type="presParOf" srcId="{BDFD2B5E-16B6-463F-820E-0F858A76BF30}" destId="{F84459AB-38A2-4312-AE9D-6465A6162EF3}" srcOrd="2" destOrd="0" presId="urn:microsoft.com/office/officeart/2018/2/layout/IconVerticalSolidList"/>
    <dgm:cxn modelId="{78823D02-D63B-42F3-B019-724472731DB8}" type="presParOf" srcId="{BDFD2B5E-16B6-463F-820E-0F858A76BF30}" destId="{F6D4FD6C-B3BC-456E-A32E-ADB3D02EFAB7}" srcOrd="3" destOrd="0" presId="urn:microsoft.com/office/officeart/2018/2/layout/IconVerticalSolidList"/>
    <dgm:cxn modelId="{956F189B-A5A4-4F5B-B364-A19E3F4D11C6}" type="presParOf" srcId="{BDFD2B5E-16B6-463F-820E-0F858A76BF30}" destId="{543F658A-D7B1-427F-A580-5636853B4710}" srcOrd="4" destOrd="0" presId="urn:microsoft.com/office/officeart/2018/2/layout/IconVerticalSolidList"/>
    <dgm:cxn modelId="{08942A76-BEA9-4BFC-8F86-7458AAC9DE71}" type="presParOf" srcId="{0CF14370-CC17-44FB-AD9D-897A23FB6B71}" destId="{B044B19F-47D5-405E-9C10-7F874415F530}" srcOrd="7" destOrd="0" presId="urn:microsoft.com/office/officeart/2018/2/layout/IconVerticalSolidList"/>
    <dgm:cxn modelId="{EE2757AA-BBFA-49F8-A8FC-9568F16E9C8A}" type="presParOf" srcId="{0CF14370-CC17-44FB-AD9D-897A23FB6B71}" destId="{9EA29FE1-D517-41B3-B77B-4B506CE05AA6}" srcOrd="8" destOrd="0" presId="urn:microsoft.com/office/officeart/2018/2/layout/IconVerticalSolidList"/>
    <dgm:cxn modelId="{7C1AC297-FED3-42B2-8B28-F3D784E0B41B}" type="presParOf" srcId="{9EA29FE1-D517-41B3-B77B-4B506CE05AA6}" destId="{28C8C15D-A9FB-447F-B0E3-9540C2FAB6AE}" srcOrd="0" destOrd="0" presId="urn:microsoft.com/office/officeart/2018/2/layout/IconVerticalSolidList"/>
    <dgm:cxn modelId="{7EDCD4BD-5946-489F-9A00-28BAF0BD0774}" type="presParOf" srcId="{9EA29FE1-D517-41B3-B77B-4B506CE05AA6}" destId="{8CF205A8-D4C0-4ED1-BABF-AB2AD8C82249}" srcOrd="1" destOrd="0" presId="urn:microsoft.com/office/officeart/2018/2/layout/IconVerticalSolidList"/>
    <dgm:cxn modelId="{C157D421-149C-4182-B9F5-28AED02541AD}" type="presParOf" srcId="{9EA29FE1-D517-41B3-B77B-4B506CE05AA6}" destId="{A180B453-1353-4A9E-8036-7971E0A032C6}" srcOrd="2" destOrd="0" presId="urn:microsoft.com/office/officeart/2018/2/layout/IconVerticalSolidList"/>
    <dgm:cxn modelId="{F2928569-CB01-4877-B82D-043B3F36C887}" type="presParOf" srcId="{9EA29FE1-D517-41B3-B77B-4B506CE05AA6}" destId="{A21B9F9B-2B83-4E0C-AB3C-40EB3CA17F6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9142EC-4F6E-49A8-843F-D9E31B839347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695ACF-89EC-4B2C-BA32-FEB63109C3AB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03A53E-BBF4-4CA3-BC89-20695374C086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O objetivo é maximizar o envio de cupons que converterão em transações</a:t>
          </a:r>
          <a:endParaRPr lang="en-US" sz="2200" kern="1200"/>
        </a:p>
      </dsp:txBody>
      <dsp:txXfrm>
        <a:off x="1057183" y="1805"/>
        <a:ext cx="9458416" cy="915310"/>
      </dsp:txXfrm>
    </dsp:sp>
    <dsp:sp modelId="{CA9B8FDD-E385-42C0-AE61-0BFAFE01DEB1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CB2072-7BD5-478E-A4A4-39AE1B4C3472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997479-6786-4A3C-B9A6-45BE8E7CC3AA}">
      <dsp:nvSpPr>
        <dsp:cNvPr id="0" name=""/>
        <dsp:cNvSpPr/>
      </dsp:nvSpPr>
      <dsp:spPr>
        <a:xfrm>
          <a:off x="1057183" y="1145944"/>
          <a:ext cx="4732020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Cupons devem estimular a compra</a:t>
          </a:r>
          <a:endParaRPr lang="en-US" sz="2200" kern="1200"/>
        </a:p>
      </dsp:txBody>
      <dsp:txXfrm>
        <a:off x="1057183" y="1145944"/>
        <a:ext cx="4732020" cy="915310"/>
      </dsp:txXfrm>
    </dsp:sp>
    <dsp:sp modelId="{8A141E51-24CD-4771-8D5B-8C9DE070A5BD}">
      <dsp:nvSpPr>
        <dsp:cNvPr id="0" name=""/>
        <dsp:cNvSpPr/>
      </dsp:nvSpPr>
      <dsp:spPr>
        <a:xfrm>
          <a:off x="5789203" y="1145944"/>
          <a:ext cx="472639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Ignorar  </a:t>
          </a:r>
          <a:r>
            <a:rPr lang="pt-BR" sz="1200" b="1" kern="1200" dirty="0">
              <a:solidFill>
                <a:srgbClr val="FF0000"/>
              </a:solidFill>
            </a:rPr>
            <a:t>X</a:t>
          </a:r>
          <a:endParaRPr lang="en-US" sz="1200" b="1" kern="1200" dirty="0">
            <a:solidFill>
              <a:srgbClr val="FF0000"/>
            </a:solidFill>
          </a:endParaRP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Compra já seria feita independente do cupom </a:t>
          </a:r>
          <a:r>
            <a:rPr lang="pt-BR" sz="1200" b="1" kern="1200" dirty="0">
              <a:solidFill>
                <a:srgbClr val="FF0000"/>
              </a:solidFill>
            </a:rPr>
            <a:t>X</a:t>
          </a:r>
          <a:endParaRPr lang="en-US" sz="1200" b="1" kern="1200" dirty="0">
            <a:solidFill>
              <a:srgbClr val="FF0000"/>
            </a:solidFill>
          </a:endParaRPr>
        </a:p>
      </dsp:txBody>
      <dsp:txXfrm>
        <a:off x="5789203" y="1145944"/>
        <a:ext cx="4726396" cy="915310"/>
      </dsp:txXfrm>
    </dsp:sp>
    <dsp:sp modelId="{9897146B-A21D-4FAC-BE72-4AB6E91E159B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F76359-F8A6-4384-8F0C-30B65B29EFFA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76C63C-0735-4844-B719-5F842AC19CC7}">
      <dsp:nvSpPr>
        <dsp:cNvPr id="0" name=""/>
        <dsp:cNvSpPr/>
      </dsp:nvSpPr>
      <dsp:spPr>
        <a:xfrm>
          <a:off x="1057183" y="2290082"/>
          <a:ext cx="4732020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Evento alvo:</a:t>
          </a:r>
          <a:endParaRPr lang="en-US" sz="2200" kern="1200"/>
        </a:p>
      </dsp:txBody>
      <dsp:txXfrm>
        <a:off x="1057183" y="2290082"/>
        <a:ext cx="4732020" cy="915310"/>
      </dsp:txXfrm>
    </dsp:sp>
    <dsp:sp modelId="{F2C15A5D-A6F8-4436-BE45-5095558E0BDD}">
      <dsp:nvSpPr>
        <dsp:cNvPr id="0" name=""/>
        <dsp:cNvSpPr/>
      </dsp:nvSpPr>
      <dsp:spPr>
        <a:xfrm>
          <a:off x="5789203" y="2290082"/>
          <a:ext cx="472639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offer received → offer viewed → [transaction(s)] → offer completed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Dentro da janela de duração do cupom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Para cupom informacional não há o offer completed</a:t>
          </a:r>
        </a:p>
      </dsp:txBody>
      <dsp:txXfrm>
        <a:off x="5789203" y="2290082"/>
        <a:ext cx="4726396" cy="915310"/>
      </dsp:txXfrm>
    </dsp:sp>
    <dsp:sp modelId="{3C6F5C41-CFC7-482B-9485-04C9BC72784D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3FF53-EC11-4AE6-AD3B-3B376D225FD7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3CE954-A0E0-4BF9-93FB-722340425720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Um modelo para cada tipo de cupom (BOGO, Informacional e Desconto)</a:t>
          </a:r>
          <a:endParaRPr lang="en-US" sz="2200" kern="1200"/>
        </a:p>
      </dsp:txBody>
      <dsp:txXfrm>
        <a:off x="1057183" y="3434221"/>
        <a:ext cx="9458416" cy="915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A3E40B-D38F-4FB0-94D3-E79F0B4C7C4D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D3D9D9-C272-46E0-A6E5-8596DAC99A06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E1DFB0-EC6C-4F9F-8AC1-1D02B8955816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Perfil incompleto reduz conversão em TODOS os tipos de cupom</a:t>
          </a:r>
          <a:endParaRPr lang="en-US" sz="1800" kern="1200"/>
        </a:p>
      </dsp:txBody>
      <dsp:txXfrm>
        <a:off x="836323" y="3399"/>
        <a:ext cx="9679276" cy="724089"/>
      </dsp:txXfrm>
    </dsp:sp>
    <dsp:sp modelId="{B8224900-C739-4B93-B4AC-70155A01B9C8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87C8E8-61A3-49BD-B621-12C2A8506EA2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07B6D9-FC08-409F-A98F-BF9A4AFA0C71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Rede social é o canal mais forte para BOGO e Desconto,  mas tem pouco efeito no Informacional</a:t>
          </a:r>
          <a:endParaRPr lang="en-US" sz="1800" kern="1200"/>
        </a:p>
      </dsp:txBody>
      <dsp:txXfrm>
        <a:off x="836323" y="908511"/>
        <a:ext cx="9679276" cy="724089"/>
      </dsp:txXfrm>
    </dsp:sp>
    <dsp:sp modelId="{13EF8E5D-9C0E-4F39-88E0-A5F86C052824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5D92DA-4937-47E2-BC29-A295AD6E1018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BAC861-C39F-459D-8598-33C37927A477}">
      <dsp:nvSpPr>
        <dsp:cNvPr id="0" name=""/>
        <dsp:cNvSpPr/>
      </dsp:nvSpPr>
      <dsp:spPr>
        <a:xfrm>
          <a:off x="836323" y="1813624"/>
          <a:ext cx="4732020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Duração do cupom tem efeito OPOSTO entre os tipos: </a:t>
          </a:r>
          <a:endParaRPr lang="en-US" sz="1800" kern="1200"/>
        </a:p>
      </dsp:txBody>
      <dsp:txXfrm>
        <a:off x="836323" y="1813624"/>
        <a:ext cx="4732020" cy="724089"/>
      </dsp:txXfrm>
    </dsp:sp>
    <dsp:sp modelId="{8EAE8D1D-65BB-40CA-85EC-A9E239D2E874}">
      <dsp:nvSpPr>
        <dsp:cNvPr id="0" name=""/>
        <dsp:cNvSpPr/>
      </dsp:nvSpPr>
      <dsp:spPr>
        <a:xfrm>
          <a:off x="5568343" y="1813624"/>
          <a:ext cx="494725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BOGO/Desconto: cupons mais longos convertem mais 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Informacional: cupons mais curtos convertem mais </a:t>
          </a:r>
          <a:endParaRPr lang="en-US" sz="1400" kern="1200" dirty="0"/>
        </a:p>
      </dsp:txBody>
      <dsp:txXfrm>
        <a:off x="5568343" y="1813624"/>
        <a:ext cx="4947256" cy="724089"/>
      </dsp:txXfrm>
    </dsp:sp>
    <dsp:sp modelId="{658E7918-2039-449B-A51D-29CE0EE20636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7A05A7-6EF4-4E0E-8F55-175BECB2FE6E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D4FD6C-B3BC-456E-A32E-ADB3D02EFAB7}">
      <dsp:nvSpPr>
        <dsp:cNvPr id="0" name=""/>
        <dsp:cNvSpPr/>
      </dsp:nvSpPr>
      <dsp:spPr>
        <a:xfrm>
          <a:off x="836323" y="2718736"/>
          <a:ext cx="4732020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Limite de cartão de crédito também se comporta de forma oposta: </a:t>
          </a:r>
          <a:endParaRPr lang="en-US" sz="1800" kern="1200"/>
        </a:p>
      </dsp:txBody>
      <dsp:txXfrm>
        <a:off x="836323" y="2718736"/>
        <a:ext cx="4732020" cy="724089"/>
      </dsp:txXfrm>
    </dsp:sp>
    <dsp:sp modelId="{543F658A-D7B1-427F-A580-5636853B4710}">
      <dsp:nvSpPr>
        <dsp:cNvPr id="0" name=""/>
        <dsp:cNvSpPr/>
      </dsp:nvSpPr>
      <dsp:spPr>
        <a:xfrm>
          <a:off x="5568343" y="2718736"/>
          <a:ext cx="494725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BOGO/Desconto: quanto maior o limite, maior a conversão </a:t>
          </a:r>
          <a:endParaRPr lang="en-US" sz="1400" kern="120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Informacional: quanto maior o limite, menor a conversão  </a:t>
          </a:r>
          <a:endParaRPr lang="en-US" sz="1400" kern="1200"/>
        </a:p>
      </dsp:txBody>
      <dsp:txXfrm>
        <a:off x="5568343" y="2718736"/>
        <a:ext cx="4947256" cy="724089"/>
      </dsp:txXfrm>
    </dsp:sp>
    <dsp:sp modelId="{28C8C15D-A9FB-447F-B0E3-9540C2FAB6AE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F205A8-D4C0-4ED1-BABF-AB2AD8C82249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1B9F9B-2B83-4E0C-AB3C-40EB3CA17F62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BOGO é o tipo mais difícil de prever -&gt; fatores fora do </a:t>
          </a:r>
          <a:r>
            <a:rPr lang="pt-BR" sz="1800" kern="1200" dirty="0" err="1"/>
            <a:t>dataset</a:t>
          </a:r>
          <a:r>
            <a:rPr lang="pt-BR" sz="1800" kern="1200" dirty="0"/>
            <a:t> atual podem ter mais peso que o perfil do cliente</a:t>
          </a:r>
          <a:endParaRPr lang="en-US" sz="1800" kern="1200" dirty="0"/>
        </a:p>
      </dsp:txBody>
      <dsp:txXfrm>
        <a:off x="836323" y="3623848"/>
        <a:ext cx="9679276" cy="724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B2EDCE-CE00-7019-89F3-AFC38D3B30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A50CDE-1C60-E24C-D2E4-2A7EC3049F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480C16-21A8-BAB6-C3E5-AB8FBA944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E38D-CAC2-4C15-9795-525D4FDBAEBC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C0F8BB-F099-B456-78AA-A6F2359D0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B89DAF-F718-287B-8B4C-C58A97A6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C2D8-F99B-4790-B8D7-5D8A636E13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1047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7348C-E8EB-19CC-C8EC-D38B4D0AF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4A4831-FBB3-55D8-74CC-3B6D185CE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113F71-8453-63EF-1D0A-F17DBDFE5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E38D-CAC2-4C15-9795-525D4FDBAEBC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1EA109-8548-32F7-0AF5-4858BF9D7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935BBD-1864-8D5B-7C62-57586DB7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C2D8-F99B-4790-B8D7-5D8A636E13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452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26219-3F20-EEE6-2B3C-2B0B261C4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957303-326B-2D42-F1EF-D5A2A612D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6C8821-9ACC-E209-CF3A-C9A8FF6E8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E38D-CAC2-4C15-9795-525D4FDBAEBC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3255A1-CDBE-4D71-08EA-698DFD724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0D8A8A-E2C1-2D77-D516-E8A1373B2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C2D8-F99B-4790-B8D7-5D8A636E13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0952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8D78D5-FA68-F7BA-CBB9-5674C0F46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4EA619-9036-E2B9-F4FE-4D633B072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1F9B659-D9F6-22BE-3D3E-5013ACDD7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5AAD331-97E3-E774-3F65-6AEFCC6C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E38D-CAC2-4C15-9795-525D4FDBAEBC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DA0D65E-EE0D-AC68-560C-DF0B6B357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BAF1D6-CB4C-2357-F2F4-E303D86BD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C2D8-F99B-4790-B8D7-5D8A636E13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4693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91A4B-F7CB-C2DA-9346-FD448D311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76BC7DE-CB2B-DA4F-AEB5-A4CAB7A7A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643FBE4-8F60-628C-E4B9-910D4C212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5DD11D7-9575-012F-07A1-997757CB3D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721DABD-9794-71D9-5B83-4234B7FA6F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396123A-10F5-C114-2AB2-C8ACEF693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E38D-CAC2-4C15-9795-525D4FDBAEBC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CF40C0F-8742-840E-C257-9B9CF563F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CE9E9DC-3476-8716-F57A-79A9D0B59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C2D8-F99B-4790-B8D7-5D8A636E13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75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D55C2E-6007-C691-64C2-C2EEFA242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547F640-E924-9015-DCBB-7215F9A8E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E38D-CAC2-4C15-9795-525D4FDBAEBC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2271276-9668-81D0-D3D1-336142EE1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73B43C-97B1-F626-C8E1-A06B400AA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C2D8-F99B-4790-B8D7-5D8A636E13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284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1A89D07-CB70-DDF7-4FC5-7DD184C61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E38D-CAC2-4C15-9795-525D4FDBAEBC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6F7576F-4DC7-33DF-7D8F-AB17D3F01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D17D28-0CD1-0E1A-7C16-31821B9C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C2D8-F99B-4790-B8D7-5D8A636E13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568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E49453-2BC8-85FB-5734-ED72EB7A1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3E4949-D400-3860-C32F-18C286378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F82C4F3-CEA2-851A-5C80-D942399C7A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FFA8ECF-F9FB-9E0D-EFE3-5DB036D5C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E38D-CAC2-4C15-9795-525D4FDBAEBC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BBED49-E793-6EF9-4693-10457CB24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CD16D8-39D3-645B-B611-61BB0352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C2D8-F99B-4790-B8D7-5D8A636E13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0350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0FC11-7750-443B-BCC7-851669536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8CA6E3A-A539-0985-2100-AA2BAB6A8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E6253E0-8D11-E5C3-F9B7-E82143115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A9740D-A84A-285A-4D90-4300B410F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E38D-CAC2-4C15-9795-525D4FDBAEBC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6352B9-DC8A-A1B6-2906-490CEA10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9FBDDED-85E2-8DBA-09C2-8E3578B52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C2D8-F99B-4790-B8D7-5D8A636E13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4941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CA396D-DABB-D644-F0FB-A287AAEE8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8A068BA-00CB-E858-E369-C24C2DE4D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DE6905-F21C-BB61-8B7A-4BC96BD73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E38D-CAC2-4C15-9795-525D4FDBAEBC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01F558-8328-7325-B12F-FB3E5BBCB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3903B9-5020-C7A1-7EA5-A79CB756D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C2D8-F99B-4790-B8D7-5D8A636E13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5556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D062C2-6AD3-9AB1-C8A1-FDD2AD4AA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6C65395-2D15-4D19-9F86-81A173DF6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1015E6-D207-A041-872C-030A8468E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2E38D-CAC2-4C15-9795-525D4FDBAEBC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073B44-1167-1837-121C-B892055AC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9A3856-6A1F-F546-2AF9-7DEF989DA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C2D8-F99B-4790-B8D7-5D8A636E13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2117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80DBB9B-E24A-BEE1-382F-47E68416A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F9002F-618A-971F-33CC-62FEABD86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3AAA91-AB13-FDE8-37D4-41A44F49C1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A2E38D-CAC2-4C15-9795-525D4FDBAEBC}" type="datetimeFigureOut">
              <a:rPr lang="pt-BR" smtClean="0"/>
              <a:t>15/07/2026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B7E16F-B2AC-5C9C-CD0D-2F58866A57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1D0347-0ADC-767E-F3FF-C61D93E57F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84C2D8-F99B-4790-B8D7-5D8A636E13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9228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7" name="Rectangle 201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Rectangle 203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9" name="Rectangle 205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67D5BB-EFE1-E735-AC72-DC16EA0BE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pt-BR" sz="7200" dirty="0"/>
              <a:t>Case Técnico Data Science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F2E6CB-4393-29D9-CB9A-71EB00C7A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pt-BR"/>
              <a:t>Denise Boito Pereira da Silva</a:t>
            </a:r>
          </a:p>
        </p:txBody>
      </p: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126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995A13-D99C-6B52-99D6-104097DF2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Para quem enviar cupons?</a:t>
            </a:r>
          </a:p>
        </p:txBody>
      </p:sp>
      <p:graphicFrame>
        <p:nvGraphicFramePr>
          <p:cNvPr id="6" name="Espaço Reservado para Conteúdo 2">
            <a:extLst>
              <a:ext uri="{FF2B5EF4-FFF2-40B4-BE49-F238E27FC236}">
                <a16:creationId xmlns:a16="http://schemas.microsoft.com/office/drawing/2014/main" id="{EC1D5C4E-828A-7FF9-4DF1-E3157985AC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20734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Elipse 8">
            <a:extLst>
              <a:ext uri="{FF2B5EF4-FFF2-40B4-BE49-F238E27FC236}">
                <a16:creationId xmlns:a16="http://schemas.microsoft.com/office/drawing/2014/main" id="{E0364EFA-5750-DF57-43D4-C3EE82AAA96F}"/>
              </a:ext>
            </a:extLst>
          </p:cNvPr>
          <p:cNvSpPr/>
          <p:nvPr/>
        </p:nvSpPr>
        <p:spPr>
          <a:xfrm>
            <a:off x="-1046136" y="-911585"/>
            <a:ext cx="2092271" cy="1992163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5586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AEA10F-33C8-6627-4BA2-627940672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para cupons Informacionais</a:t>
            </a:r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7BE165A0-F2A2-3851-D6E0-EB230B0CD429}"/>
              </a:ext>
            </a:extLst>
          </p:cNvPr>
          <p:cNvGrpSpPr/>
          <p:nvPr/>
        </p:nvGrpSpPr>
        <p:grpSpPr>
          <a:xfrm>
            <a:off x="464695" y="1690689"/>
            <a:ext cx="5616000" cy="370134"/>
            <a:chOff x="464695" y="1690689"/>
            <a:chExt cx="11272603" cy="37013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5B7D0435-680A-6496-BDC1-665EEC3C26E6}"/>
                </a:ext>
              </a:extLst>
            </p:cNvPr>
            <p:cNvSpPr/>
            <p:nvPr/>
          </p:nvSpPr>
          <p:spPr>
            <a:xfrm>
              <a:off x="464695" y="1690689"/>
              <a:ext cx="11272603" cy="370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4000"/>
            </a:p>
          </p:txBody>
        </p:sp>
        <p:sp>
          <p:nvSpPr>
            <p:cNvPr id="5" name="Espaço Reservado para Conteúdo 2">
              <a:extLst>
                <a:ext uri="{FF2B5EF4-FFF2-40B4-BE49-F238E27FC236}">
                  <a16:creationId xmlns:a16="http://schemas.microsoft.com/office/drawing/2014/main" id="{6534F024-BF43-B779-1C0D-C65A55193293}"/>
                </a:ext>
              </a:extLst>
            </p:cNvPr>
            <p:cNvSpPr txBox="1">
              <a:spLocks/>
            </p:cNvSpPr>
            <p:nvPr/>
          </p:nvSpPr>
          <p:spPr>
            <a:xfrm>
              <a:off x="572929" y="1746704"/>
              <a:ext cx="10515600" cy="301344"/>
            </a:xfrm>
            <a:prstGeom prst="rect">
              <a:avLst/>
            </a:prstGeom>
            <a:grpFill/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4478338" algn="l"/>
                </a:tabLst>
              </a:pPr>
              <a:r>
                <a:rPr lang="pt-BR" sz="1600" dirty="0"/>
                <a:t>Perfil não preenchido	0,54	</a:t>
              </a:r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C133E725-84B6-E0A8-902C-B250724D4DA3}"/>
              </a:ext>
            </a:extLst>
          </p:cNvPr>
          <p:cNvGrpSpPr/>
          <p:nvPr/>
        </p:nvGrpSpPr>
        <p:grpSpPr>
          <a:xfrm>
            <a:off x="464695" y="2220826"/>
            <a:ext cx="5616000" cy="370134"/>
            <a:chOff x="464695" y="2496659"/>
            <a:chExt cx="11272603" cy="37013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9AD732AB-BCDB-E677-7ECA-528315A3ADE8}"/>
                </a:ext>
              </a:extLst>
            </p:cNvPr>
            <p:cNvSpPr/>
            <p:nvPr/>
          </p:nvSpPr>
          <p:spPr>
            <a:xfrm>
              <a:off x="464695" y="2496659"/>
              <a:ext cx="11272603" cy="370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4000"/>
            </a:p>
          </p:txBody>
        </p:sp>
        <p:sp>
          <p:nvSpPr>
            <p:cNvPr id="9" name="Espaço Reservado para Conteúdo 2">
              <a:extLst>
                <a:ext uri="{FF2B5EF4-FFF2-40B4-BE49-F238E27FC236}">
                  <a16:creationId xmlns:a16="http://schemas.microsoft.com/office/drawing/2014/main" id="{B1F31BFE-4C78-FE62-A889-91A55CA425F5}"/>
                </a:ext>
              </a:extLst>
            </p:cNvPr>
            <p:cNvSpPr txBox="1">
              <a:spLocks/>
            </p:cNvSpPr>
            <p:nvPr/>
          </p:nvSpPr>
          <p:spPr>
            <a:xfrm>
              <a:off x="572929" y="2552674"/>
              <a:ext cx="10515600" cy="301344"/>
            </a:xfrm>
            <a:prstGeom prst="rect">
              <a:avLst/>
            </a:prstGeom>
            <a:grpFill/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4478338" algn="l"/>
                </a:tabLst>
              </a:pPr>
              <a:r>
                <a:rPr lang="pt-BR" sz="1600" dirty="0"/>
                <a:t>Duração do cupom	0,5	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F8CC16F0-F83A-FBED-B9A4-72532362B581}"/>
              </a:ext>
            </a:extLst>
          </p:cNvPr>
          <p:cNvGrpSpPr/>
          <p:nvPr/>
        </p:nvGrpSpPr>
        <p:grpSpPr>
          <a:xfrm>
            <a:off x="464695" y="2735467"/>
            <a:ext cx="5616000" cy="370134"/>
            <a:chOff x="464695" y="3328848"/>
            <a:chExt cx="11272603" cy="37013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39FB0C22-1947-A982-6DF9-EE81554012A5}"/>
                </a:ext>
              </a:extLst>
            </p:cNvPr>
            <p:cNvSpPr/>
            <p:nvPr/>
          </p:nvSpPr>
          <p:spPr>
            <a:xfrm>
              <a:off x="464695" y="3328848"/>
              <a:ext cx="11272603" cy="370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4000"/>
            </a:p>
          </p:txBody>
        </p:sp>
        <p:sp>
          <p:nvSpPr>
            <p:cNvPr id="13" name="Espaço Reservado para Conteúdo 2">
              <a:extLst>
                <a:ext uri="{FF2B5EF4-FFF2-40B4-BE49-F238E27FC236}">
                  <a16:creationId xmlns:a16="http://schemas.microsoft.com/office/drawing/2014/main" id="{E299C000-EC96-F762-61AF-43340F3067C3}"/>
                </a:ext>
              </a:extLst>
            </p:cNvPr>
            <p:cNvSpPr txBox="1">
              <a:spLocks/>
            </p:cNvSpPr>
            <p:nvPr/>
          </p:nvSpPr>
          <p:spPr>
            <a:xfrm>
              <a:off x="572929" y="3384863"/>
              <a:ext cx="10515600" cy="301344"/>
            </a:xfrm>
            <a:prstGeom prst="rect">
              <a:avLst/>
            </a:prstGeom>
            <a:grpFill/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4478338" algn="l"/>
                </a:tabLst>
              </a:pPr>
              <a:r>
                <a:rPr lang="pt-BR" sz="1600" dirty="0"/>
                <a:t>Tempo em que a conta foi criada	0,29	</a:t>
              </a: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F7397700-2C28-BED6-D6AB-CC538F575668}"/>
              </a:ext>
            </a:extLst>
          </p:cNvPr>
          <p:cNvGrpSpPr/>
          <p:nvPr/>
        </p:nvGrpSpPr>
        <p:grpSpPr>
          <a:xfrm>
            <a:off x="459698" y="3234608"/>
            <a:ext cx="5616000" cy="370134"/>
            <a:chOff x="459698" y="4217054"/>
            <a:chExt cx="11272603" cy="37013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615F32D6-BA2B-B231-A842-1FF3049D9B37}"/>
                </a:ext>
              </a:extLst>
            </p:cNvPr>
            <p:cNvSpPr/>
            <p:nvPr/>
          </p:nvSpPr>
          <p:spPr>
            <a:xfrm>
              <a:off x="459698" y="4217054"/>
              <a:ext cx="11272603" cy="370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4000"/>
            </a:p>
          </p:txBody>
        </p:sp>
        <p:sp>
          <p:nvSpPr>
            <p:cNvPr id="17" name="Espaço Reservado para Conteúdo 2">
              <a:extLst>
                <a:ext uri="{FF2B5EF4-FFF2-40B4-BE49-F238E27FC236}">
                  <a16:creationId xmlns:a16="http://schemas.microsoft.com/office/drawing/2014/main" id="{77233426-158B-20C1-AFF7-9DC0B4697DC1}"/>
                </a:ext>
              </a:extLst>
            </p:cNvPr>
            <p:cNvSpPr txBox="1">
              <a:spLocks/>
            </p:cNvSpPr>
            <p:nvPr/>
          </p:nvSpPr>
          <p:spPr>
            <a:xfrm>
              <a:off x="567932" y="4273069"/>
              <a:ext cx="10515600" cy="301344"/>
            </a:xfrm>
            <a:prstGeom prst="rect">
              <a:avLst/>
            </a:prstGeom>
            <a:grpFill/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4478338" algn="l"/>
                </a:tabLst>
              </a:pPr>
              <a:r>
                <a:rPr lang="pt-BR" sz="1600" dirty="0"/>
                <a:t>Cupom enviado pela web	0,23	</a:t>
              </a:r>
            </a:p>
          </p:txBody>
        </p:sp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19072164-F5D2-9905-933B-76A1CD2E5321}"/>
              </a:ext>
            </a:extLst>
          </p:cNvPr>
          <p:cNvGrpSpPr/>
          <p:nvPr/>
        </p:nvGrpSpPr>
        <p:grpSpPr>
          <a:xfrm>
            <a:off x="459698" y="3764747"/>
            <a:ext cx="5616000" cy="370134"/>
            <a:chOff x="459698" y="5092864"/>
            <a:chExt cx="11272603" cy="37013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8380DCAB-7842-9DC7-D921-AE355005C2FF}"/>
                </a:ext>
              </a:extLst>
            </p:cNvPr>
            <p:cNvSpPr/>
            <p:nvPr/>
          </p:nvSpPr>
          <p:spPr>
            <a:xfrm>
              <a:off x="459698" y="5092864"/>
              <a:ext cx="11272603" cy="370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4000"/>
            </a:p>
          </p:txBody>
        </p:sp>
        <p:sp>
          <p:nvSpPr>
            <p:cNvPr id="21" name="Espaço Reservado para Conteúdo 2">
              <a:extLst>
                <a:ext uri="{FF2B5EF4-FFF2-40B4-BE49-F238E27FC236}">
                  <a16:creationId xmlns:a16="http://schemas.microsoft.com/office/drawing/2014/main" id="{3DA221BA-DBF2-8F58-EBA9-192ADF4BA120}"/>
                </a:ext>
              </a:extLst>
            </p:cNvPr>
            <p:cNvSpPr txBox="1">
              <a:spLocks/>
            </p:cNvSpPr>
            <p:nvPr/>
          </p:nvSpPr>
          <p:spPr>
            <a:xfrm>
              <a:off x="567932" y="5148879"/>
              <a:ext cx="10515600" cy="301344"/>
            </a:xfrm>
            <a:prstGeom prst="rect">
              <a:avLst/>
            </a:prstGeom>
            <a:grpFill/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4478338" algn="l"/>
                </a:tabLst>
              </a:pPr>
              <a:r>
                <a:rPr lang="pt-BR" sz="1600" dirty="0"/>
                <a:t>Cupom enviado por rede social	0,23	</a:t>
              </a:r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883A3AB3-4E7B-A6C9-AADC-3C4A84E14E0A}"/>
              </a:ext>
            </a:extLst>
          </p:cNvPr>
          <p:cNvGrpSpPr/>
          <p:nvPr/>
        </p:nvGrpSpPr>
        <p:grpSpPr>
          <a:xfrm>
            <a:off x="459698" y="4279388"/>
            <a:ext cx="5616000" cy="370134"/>
            <a:chOff x="459698" y="5968674"/>
            <a:chExt cx="11272603" cy="37013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8A39A45A-A201-B270-308F-36D262318B5B}"/>
                </a:ext>
              </a:extLst>
            </p:cNvPr>
            <p:cNvSpPr/>
            <p:nvPr/>
          </p:nvSpPr>
          <p:spPr>
            <a:xfrm>
              <a:off x="459698" y="5968674"/>
              <a:ext cx="11272603" cy="370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4000"/>
            </a:p>
          </p:txBody>
        </p:sp>
        <p:sp>
          <p:nvSpPr>
            <p:cNvPr id="25" name="Espaço Reservado para Conteúdo 2">
              <a:extLst>
                <a:ext uri="{FF2B5EF4-FFF2-40B4-BE49-F238E27FC236}">
                  <a16:creationId xmlns:a16="http://schemas.microsoft.com/office/drawing/2014/main" id="{0B1DADDE-E556-18A5-8F70-52BEBACF1383}"/>
                </a:ext>
              </a:extLst>
            </p:cNvPr>
            <p:cNvSpPr txBox="1">
              <a:spLocks/>
            </p:cNvSpPr>
            <p:nvPr/>
          </p:nvSpPr>
          <p:spPr>
            <a:xfrm>
              <a:off x="567932" y="6024689"/>
              <a:ext cx="10515600" cy="301344"/>
            </a:xfrm>
            <a:prstGeom prst="rect">
              <a:avLst/>
            </a:prstGeom>
            <a:grpFill/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4478338" algn="l"/>
                </a:tabLst>
              </a:pPr>
              <a:r>
                <a:rPr lang="pt-BR" sz="1600" dirty="0"/>
                <a:t>Limite do cartão de crédito	0,23	</a:t>
              </a: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8C91E35E-7299-A3FF-6D40-90F9B64222D7}"/>
              </a:ext>
            </a:extLst>
          </p:cNvPr>
          <p:cNvGrpSpPr/>
          <p:nvPr/>
        </p:nvGrpSpPr>
        <p:grpSpPr>
          <a:xfrm>
            <a:off x="459696" y="4838020"/>
            <a:ext cx="5616000" cy="370134"/>
            <a:chOff x="459698" y="5968674"/>
            <a:chExt cx="11272603" cy="37013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3" name="Retângulo: Cantos Arredondados 32">
              <a:extLst>
                <a:ext uri="{FF2B5EF4-FFF2-40B4-BE49-F238E27FC236}">
                  <a16:creationId xmlns:a16="http://schemas.microsoft.com/office/drawing/2014/main" id="{28CD9CCB-57E9-3D8E-D96B-B77FF54DFC60}"/>
                </a:ext>
              </a:extLst>
            </p:cNvPr>
            <p:cNvSpPr/>
            <p:nvPr/>
          </p:nvSpPr>
          <p:spPr>
            <a:xfrm>
              <a:off x="459698" y="5968674"/>
              <a:ext cx="11272603" cy="370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4000"/>
            </a:p>
          </p:txBody>
        </p:sp>
        <p:sp>
          <p:nvSpPr>
            <p:cNvPr id="34" name="Espaço Reservado para Conteúdo 2">
              <a:extLst>
                <a:ext uri="{FF2B5EF4-FFF2-40B4-BE49-F238E27FC236}">
                  <a16:creationId xmlns:a16="http://schemas.microsoft.com/office/drawing/2014/main" id="{46063C1B-B82A-3197-5E05-AF3C759F73CF}"/>
                </a:ext>
              </a:extLst>
            </p:cNvPr>
            <p:cNvSpPr txBox="1">
              <a:spLocks/>
            </p:cNvSpPr>
            <p:nvPr/>
          </p:nvSpPr>
          <p:spPr>
            <a:xfrm>
              <a:off x="567932" y="6024689"/>
              <a:ext cx="10515600" cy="301344"/>
            </a:xfrm>
            <a:prstGeom prst="rect">
              <a:avLst/>
            </a:prstGeom>
            <a:grpFill/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4478338" algn="l"/>
                </a:tabLst>
              </a:pPr>
              <a:r>
                <a:rPr lang="pt-BR" sz="1600" dirty="0"/>
                <a:t>Gênero Feminino ou Outro	0,09	</a:t>
              </a:r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4CDE6688-20D9-B481-9E04-91D2EFD35A59}"/>
              </a:ext>
            </a:extLst>
          </p:cNvPr>
          <p:cNvGrpSpPr/>
          <p:nvPr/>
        </p:nvGrpSpPr>
        <p:grpSpPr>
          <a:xfrm>
            <a:off x="459696" y="5432792"/>
            <a:ext cx="5616000" cy="370134"/>
            <a:chOff x="459698" y="5968674"/>
            <a:chExt cx="11272603" cy="37013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6" name="Retângulo: Cantos Arredondados 35">
              <a:extLst>
                <a:ext uri="{FF2B5EF4-FFF2-40B4-BE49-F238E27FC236}">
                  <a16:creationId xmlns:a16="http://schemas.microsoft.com/office/drawing/2014/main" id="{8C51BDBD-C39B-BD79-7FE9-06066E812AAF}"/>
                </a:ext>
              </a:extLst>
            </p:cNvPr>
            <p:cNvSpPr/>
            <p:nvPr/>
          </p:nvSpPr>
          <p:spPr>
            <a:xfrm>
              <a:off x="459698" y="5968674"/>
              <a:ext cx="11272603" cy="370134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5400"/>
            </a:p>
          </p:txBody>
        </p:sp>
        <p:sp>
          <p:nvSpPr>
            <p:cNvPr id="37" name="Espaço Reservado para Conteúdo 2">
              <a:extLst>
                <a:ext uri="{FF2B5EF4-FFF2-40B4-BE49-F238E27FC236}">
                  <a16:creationId xmlns:a16="http://schemas.microsoft.com/office/drawing/2014/main" id="{770BE481-848A-516A-93DF-316CBF63DC21}"/>
                </a:ext>
              </a:extLst>
            </p:cNvPr>
            <p:cNvSpPr txBox="1">
              <a:spLocks/>
            </p:cNvSpPr>
            <p:nvPr/>
          </p:nvSpPr>
          <p:spPr>
            <a:xfrm>
              <a:off x="567932" y="6024689"/>
              <a:ext cx="10515600" cy="301344"/>
            </a:xfrm>
            <a:prstGeom prst="rect">
              <a:avLst/>
            </a:prstGeom>
            <a:grpFill/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4478338" algn="l"/>
                </a:tabLst>
              </a:pPr>
              <a:r>
                <a:rPr lang="pt-BR" sz="1600" dirty="0"/>
                <a:t>Idade	0,1</a:t>
              </a:r>
            </a:p>
          </p:txBody>
        </p:sp>
      </p:grpSp>
      <p:pic>
        <p:nvPicPr>
          <p:cNvPr id="41" name="Gráfico 40" descr="Seta para Cima com preenchimento sólido">
            <a:extLst>
              <a:ext uri="{FF2B5EF4-FFF2-40B4-BE49-F238E27FC236}">
                <a16:creationId xmlns:a16="http://schemas.microsoft.com/office/drawing/2014/main" id="{3FA158D9-19AE-6D67-DF73-482424A3F1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8882" y="2780000"/>
            <a:ext cx="309965" cy="309965"/>
          </a:xfrm>
          <a:prstGeom prst="rect">
            <a:avLst/>
          </a:prstGeom>
        </p:spPr>
      </p:pic>
      <p:pic>
        <p:nvPicPr>
          <p:cNvPr id="43" name="Gráfico 42" descr="Seta para Cima com preenchimento sólido">
            <a:extLst>
              <a:ext uri="{FF2B5EF4-FFF2-40B4-BE49-F238E27FC236}">
                <a16:creationId xmlns:a16="http://schemas.microsoft.com/office/drawing/2014/main" id="{51B3C002-A096-5223-4BC8-A751C2C12C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8881" y="3815805"/>
            <a:ext cx="309965" cy="309965"/>
          </a:xfrm>
          <a:prstGeom prst="rect">
            <a:avLst/>
          </a:prstGeom>
        </p:spPr>
      </p:pic>
      <p:pic>
        <p:nvPicPr>
          <p:cNvPr id="45" name="Gráfico 44" descr="Seta para Cima com preenchimento sólido">
            <a:extLst>
              <a:ext uri="{FF2B5EF4-FFF2-40B4-BE49-F238E27FC236}">
                <a16:creationId xmlns:a16="http://schemas.microsoft.com/office/drawing/2014/main" id="{DDC4284B-E16B-3DFE-424C-DB8D4027BC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8880" y="4882691"/>
            <a:ext cx="309965" cy="309965"/>
          </a:xfrm>
          <a:prstGeom prst="rect">
            <a:avLst/>
          </a:prstGeom>
        </p:spPr>
      </p:pic>
      <p:pic>
        <p:nvPicPr>
          <p:cNvPr id="47" name="Gráfico 46" descr="Seta para Cima com preenchimento sólido">
            <a:extLst>
              <a:ext uri="{FF2B5EF4-FFF2-40B4-BE49-F238E27FC236}">
                <a16:creationId xmlns:a16="http://schemas.microsoft.com/office/drawing/2014/main" id="{0768F233-055A-33B2-6348-F66C2BEE16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718879" y="1739444"/>
            <a:ext cx="309965" cy="309965"/>
          </a:xfrm>
          <a:prstGeom prst="rect">
            <a:avLst/>
          </a:prstGeom>
        </p:spPr>
      </p:pic>
      <p:pic>
        <p:nvPicPr>
          <p:cNvPr id="49" name="Gráfico 48" descr="Seta para Cima com preenchimento sólido">
            <a:extLst>
              <a:ext uri="{FF2B5EF4-FFF2-40B4-BE49-F238E27FC236}">
                <a16:creationId xmlns:a16="http://schemas.microsoft.com/office/drawing/2014/main" id="{C8A304C2-856A-6C8E-236C-7E8A4BC4D4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718878" y="2249321"/>
            <a:ext cx="309965" cy="309965"/>
          </a:xfrm>
          <a:prstGeom prst="rect">
            <a:avLst/>
          </a:prstGeom>
        </p:spPr>
      </p:pic>
      <p:pic>
        <p:nvPicPr>
          <p:cNvPr id="51" name="Gráfico 50" descr="Seta para Cima com preenchimento sólido">
            <a:extLst>
              <a:ext uri="{FF2B5EF4-FFF2-40B4-BE49-F238E27FC236}">
                <a16:creationId xmlns:a16="http://schemas.microsoft.com/office/drawing/2014/main" id="{79508AE9-44B1-C701-0FF6-369B0230E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718874" y="3271792"/>
            <a:ext cx="309965" cy="309965"/>
          </a:xfrm>
          <a:prstGeom prst="rect">
            <a:avLst/>
          </a:prstGeom>
        </p:spPr>
      </p:pic>
      <p:pic>
        <p:nvPicPr>
          <p:cNvPr id="53" name="Gráfico 52" descr="Seta para Cima com preenchimento sólido">
            <a:extLst>
              <a:ext uri="{FF2B5EF4-FFF2-40B4-BE49-F238E27FC236}">
                <a16:creationId xmlns:a16="http://schemas.microsoft.com/office/drawing/2014/main" id="{AB4684C6-BD3B-BEAE-CC27-6A51D1B3AF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718866" y="4323203"/>
            <a:ext cx="309965" cy="309965"/>
          </a:xfrm>
          <a:prstGeom prst="rect">
            <a:avLst/>
          </a:prstGeom>
        </p:spPr>
      </p:pic>
      <p:pic>
        <p:nvPicPr>
          <p:cNvPr id="55" name="Gráfico 54" descr="Seta para Cima com preenchimento sólido">
            <a:extLst>
              <a:ext uri="{FF2B5EF4-FFF2-40B4-BE49-F238E27FC236}">
                <a16:creationId xmlns:a16="http://schemas.microsoft.com/office/drawing/2014/main" id="{A239D8C6-55A7-6BA4-3DF5-CB2E5B738F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718866" y="5483850"/>
            <a:ext cx="309965" cy="309965"/>
          </a:xfrm>
          <a:prstGeom prst="rect">
            <a:avLst/>
          </a:prstGeom>
        </p:spPr>
      </p:pic>
      <p:graphicFrame>
        <p:nvGraphicFramePr>
          <p:cNvPr id="56" name="Tabela 55">
            <a:extLst>
              <a:ext uri="{FF2B5EF4-FFF2-40B4-BE49-F238E27FC236}">
                <a16:creationId xmlns:a16="http://schemas.microsoft.com/office/drawing/2014/main" id="{7E6CD7F9-24DC-D8BB-6426-D40BB3E6D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518623"/>
              </p:ext>
            </p:extLst>
          </p:nvPr>
        </p:nvGraphicFramePr>
        <p:xfrm>
          <a:off x="6958738" y="1693059"/>
          <a:ext cx="3549113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5398">
                  <a:extLst>
                    <a:ext uri="{9D8B030D-6E8A-4147-A177-3AD203B41FA5}">
                      <a16:colId xmlns:a16="http://schemas.microsoft.com/office/drawing/2014/main" val="107275625"/>
                    </a:ext>
                  </a:extLst>
                </a:gridCol>
                <a:gridCol w="1301857">
                  <a:extLst>
                    <a:ext uri="{9D8B030D-6E8A-4147-A177-3AD203B41FA5}">
                      <a16:colId xmlns:a16="http://schemas.microsoft.com/office/drawing/2014/main" val="1904851804"/>
                    </a:ext>
                  </a:extLst>
                </a:gridCol>
                <a:gridCol w="1301858">
                  <a:extLst>
                    <a:ext uri="{9D8B030D-6E8A-4147-A177-3AD203B41FA5}">
                      <a16:colId xmlns:a16="http://schemas.microsoft.com/office/drawing/2014/main" val="1675015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Previsto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Previsto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148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Real 0</a:t>
                      </a:r>
                    </a:p>
                  </a:txBody>
                  <a:tcPr>
                    <a:solidFill>
                      <a:srgbClr val="EA1D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11,8 %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47,5 %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783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Real 1</a:t>
                      </a:r>
                    </a:p>
                  </a:txBody>
                  <a:tcPr>
                    <a:solidFill>
                      <a:srgbClr val="EA1D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4,14 %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37,7 %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430842"/>
                  </a:ext>
                </a:extLst>
              </a:tr>
            </a:tbl>
          </a:graphicData>
        </a:graphic>
      </p:graphicFrame>
      <p:sp>
        <p:nvSpPr>
          <p:cNvPr id="57" name="Espaço Reservado para Conteúdo 2">
            <a:extLst>
              <a:ext uri="{FF2B5EF4-FFF2-40B4-BE49-F238E27FC236}">
                <a16:creationId xmlns:a16="http://schemas.microsoft.com/office/drawing/2014/main" id="{4183EBA6-8146-F340-7739-B3FFF0E81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0878" y="3290894"/>
            <a:ext cx="4937502" cy="2684550"/>
          </a:xfrm>
        </p:spPr>
        <p:txBody>
          <a:bodyPr>
            <a:normAutofit/>
          </a:bodyPr>
          <a:lstStyle/>
          <a:p>
            <a:r>
              <a:rPr lang="pt-BR" sz="2000" dirty="0"/>
              <a:t>O modelo captura </a:t>
            </a:r>
            <a:r>
              <a:rPr lang="pt-BR" sz="2000" b="1" dirty="0"/>
              <a:t>90% das conversões reais</a:t>
            </a:r>
            <a:r>
              <a:rPr lang="pt-BR" sz="2000" dirty="0"/>
              <a:t> (Recall)</a:t>
            </a:r>
          </a:p>
          <a:p>
            <a:r>
              <a:rPr lang="pt-BR" sz="2000" dirty="0"/>
              <a:t>Acertar em cheio ~44% das vezes (</a:t>
            </a:r>
            <a:r>
              <a:rPr lang="pt-BR" sz="2000" dirty="0" err="1"/>
              <a:t>Precision</a:t>
            </a:r>
            <a:r>
              <a:rPr lang="pt-BR" sz="2000" dirty="0"/>
              <a:t>)</a:t>
            </a:r>
          </a:p>
          <a:p>
            <a:r>
              <a:rPr lang="pt-BR" sz="2000" dirty="0"/>
              <a:t>Trade-off intencional: o cupom informacional é o mais barato de disparar -&gt; não perder oportunidade de engajamento</a:t>
            </a:r>
          </a:p>
        </p:txBody>
      </p:sp>
      <p:sp>
        <p:nvSpPr>
          <p:cNvPr id="58" name="Triângulo isósceles 57">
            <a:extLst>
              <a:ext uri="{FF2B5EF4-FFF2-40B4-BE49-F238E27FC236}">
                <a16:creationId xmlns:a16="http://schemas.microsoft.com/office/drawing/2014/main" id="{F9451AFB-CCBC-A648-B958-07CD578A4C04}"/>
              </a:ext>
            </a:extLst>
          </p:cNvPr>
          <p:cNvSpPr/>
          <p:nvPr/>
        </p:nvSpPr>
        <p:spPr>
          <a:xfrm>
            <a:off x="10394197" y="4633169"/>
            <a:ext cx="1797803" cy="2224831"/>
          </a:xfrm>
          <a:prstGeom prst="triangle">
            <a:avLst>
              <a:gd name="adj" fmla="val 100000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955F229C-AA10-CF39-BED7-C030956F58E5}"/>
              </a:ext>
            </a:extLst>
          </p:cNvPr>
          <p:cNvSpPr/>
          <p:nvPr/>
        </p:nvSpPr>
        <p:spPr>
          <a:xfrm>
            <a:off x="-1046136" y="-911585"/>
            <a:ext cx="2092271" cy="1992163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7976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CAEA3-C2E9-9F1F-EC60-8F94377CC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74E08-E792-2838-3C55-0DD92677A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para cupons BOGO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9582B58-1F6C-23E3-3649-65010E987AE9}"/>
              </a:ext>
            </a:extLst>
          </p:cNvPr>
          <p:cNvSpPr/>
          <p:nvPr/>
        </p:nvSpPr>
        <p:spPr>
          <a:xfrm>
            <a:off x="464695" y="1690689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3DB1C89E-0A19-6B96-2A9B-943766630824}"/>
              </a:ext>
            </a:extLst>
          </p:cNvPr>
          <p:cNvSpPr txBox="1">
            <a:spLocks/>
          </p:cNvSpPr>
          <p:nvPr/>
        </p:nvSpPr>
        <p:spPr>
          <a:xfrm>
            <a:off x="518617" y="1746704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Perfil não preenchido	0,83	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3D3A4F9-6E0E-71DE-9D85-32D0072BB9E9}"/>
              </a:ext>
            </a:extLst>
          </p:cNvPr>
          <p:cNvSpPr/>
          <p:nvPr/>
        </p:nvSpPr>
        <p:spPr>
          <a:xfrm>
            <a:off x="464695" y="2220826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B1C4EE5-156A-F381-67F6-49C87E292FA4}"/>
              </a:ext>
            </a:extLst>
          </p:cNvPr>
          <p:cNvSpPr/>
          <p:nvPr/>
        </p:nvSpPr>
        <p:spPr>
          <a:xfrm>
            <a:off x="464695" y="2735467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51B2171C-E4DD-325C-7650-FACAD6874D5F}"/>
              </a:ext>
            </a:extLst>
          </p:cNvPr>
          <p:cNvSpPr/>
          <p:nvPr/>
        </p:nvSpPr>
        <p:spPr>
          <a:xfrm>
            <a:off x="459698" y="3234608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7E0F0DE9-BD1F-8B02-BA8E-F2E21EBAAFB1}"/>
              </a:ext>
            </a:extLst>
          </p:cNvPr>
          <p:cNvSpPr/>
          <p:nvPr/>
        </p:nvSpPr>
        <p:spPr>
          <a:xfrm>
            <a:off x="459698" y="3764747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/>
          </a:p>
        </p:txBody>
      </p:sp>
      <p:sp>
        <p:nvSpPr>
          <p:cNvPr id="21" name="Espaço Reservado para Conteúdo 2">
            <a:extLst>
              <a:ext uri="{FF2B5EF4-FFF2-40B4-BE49-F238E27FC236}">
                <a16:creationId xmlns:a16="http://schemas.microsoft.com/office/drawing/2014/main" id="{277CE64A-1506-068B-4D01-1493CD382EFC}"/>
              </a:ext>
            </a:extLst>
          </p:cNvPr>
          <p:cNvSpPr txBox="1">
            <a:spLocks/>
          </p:cNvSpPr>
          <p:nvPr/>
        </p:nvSpPr>
        <p:spPr>
          <a:xfrm>
            <a:off x="506190" y="2784563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Cupom enviado por rede social	0,52	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D69DD1B0-2BE9-6C1F-F354-CEBC0B373F2F}"/>
              </a:ext>
            </a:extLst>
          </p:cNvPr>
          <p:cNvSpPr/>
          <p:nvPr/>
        </p:nvSpPr>
        <p:spPr>
          <a:xfrm>
            <a:off x="459698" y="4279388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/>
          </a:p>
        </p:txBody>
      </p:sp>
      <p:sp>
        <p:nvSpPr>
          <p:cNvPr id="25" name="Espaço Reservado para Conteúdo 2">
            <a:extLst>
              <a:ext uri="{FF2B5EF4-FFF2-40B4-BE49-F238E27FC236}">
                <a16:creationId xmlns:a16="http://schemas.microsoft.com/office/drawing/2014/main" id="{BB46E9DD-179A-A14B-1A6C-8283E078A48D}"/>
              </a:ext>
            </a:extLst>
          </p:cNvPr>
          <p:cNvSpPr txBox="1">
            <a:spLocks/>
          </p:cNvSpPr>
          <p:nvPr/>
        </p:nvSpPr>
        <p:spPr>
          <a:xfrm>
            <a:off x="513618" y="3281161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Limite do cartão de crédito	0,46	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8F6F5F29-4D4A-0FA3-E862-D873319300D5}"/>
              </a:ext>
            </a:extLst>
          </p:cNvPr>
          <p:cNvSpPr/>
          <p:nvPr/>
        </p:nvSpPr>
        <p:spPr>
          <a:xfrm>
            <a:off x="459696" y="4838020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/>
          </a:p>
        </p:txBody>
      </p:sp>
      <p:sp>
        <p:nvSpPr>
          <p:cNvPr id="34" name="Espaço Reservado para Conteúdo 2">
            <a:extLst>
              <a:ext uri="{FF2B5EF4-FFF2-40B4-BE49-F238E27FC236}">
                <a16:creationId xmlns:a16="http://schemas.microsoft.com/office/drawing/2014/main" id="{2A109C59-C9D6-4EE4-0709-1AE17CC6F7A6}"/>
              </a:ext>
            </a:extLst>
          </p:cNvPr>
          <p:cNvSpPr txBox="1">
            <a:spLocks/>
          </p:cNvSpPr>
          <p:nvPr/>
        </p:nvSpPr>
        <p:spPr>
          <a:xfrm>
            <a:off x="480003" y="2256167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Gênero Feminino ou Outro	0,54	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EC74590F-8949-2CF4-6312-B9F4A12C1EB7}"/>
              </a:ext>
            </a:extLst>
          </p:cNvPr>
          <p:cNvSpPr/>
          <p:nvPr/>
        </p:nvSpPr>
        <p:spPr>
          <a:xfrm>
            <a:off x="459696" y="5432792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pic>
        <p:nvPicPr>
          <p:cNvPr id="41" name="Gráfico 40" descr="Seta para Cima com preenchimento sólido">
            <a:extLst>
              <a:ext uri="{FF2B5EF4-FFF2-40B4-BE49-F238E27FC236}">
                <a16:creationId xmlns:a16="http://schemas.microsoft.com/office/drawing/2014/main" id="{B39DB1D1-2988-2002-4676-853981183E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8882" y="2780000"/>
            <a:ext cx="309965" cy="309965"/>
          </a:xfrm>
          <a:prstGeom prst="rect">
            <a:avLst/>
          </a:prstGeom>
        </p:spPr>
      </p:pic>
      <p:pic>
        <p:nvPicPr>
          <p:cNvPr id="43" name="Gráfico 42" descr="Seta para Cima com preenchimento sólido">
            <a:extLst>
              <a:ext uri="{FF2B5EF4-FFF2-40B4-BE49-F238E27FC236}">
                <a16:creationId xmlns:a16="http://schemas.microsoft.com/office/drawing/2014/main" id="{5EDADC73-6E99-6AD4-2253-0C0A0E692D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718881" y="3815805"/>
            <a:ext cx="309965" cy="309965"/>
          </a:xfrm>
          <a:prstGeom prst="rect">
            <a:avLst/>
          </a:prstGeom>
        </p:spPr>
      </p:pic>
      <p:pic>
        <p:nvPicPr>
          <p:cNvPr id="45" name="Gráfico 44" descr="Seta para Cima com preenchimento sólido">
            <a:extLst>
              <a:ext uri="{FF2B5EF4-FFF2-40B4-BE49-F238E27FC236}">
                <a16:creationId xmlns:a16="http://schemas.microsoft.com/office/drawing/2014/main" id="{6380633E-232F-8D8B-7117-1F50F5EA46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718880" y="4882691"/>
            <a:ext cx="309965" cy="309965"/>
          </a:xfrm>
          <a:prstGeom prst="rect">
            <a:avLst/>
          </a:prstGeom>
        </p:spPr>
      </p:pic>
      <p:pic>
        <p:nvPicPr>
          <p:cNvPr id="47" name="Gráfico 46" descr="Seta para Cima com preenchimento sólido">
            <a:extLst>
              <a:ext uri="{FF2B5EF4-FFF2-40B4-BE49-F238E27FC236}">
                <a16:creationId xmlns:a16="http://schemas.microsoft.com/office/drawing/2014/main" id="{A69AB4E4-3032-77A2-149B-2EB0B1E1CE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5718879" y="1739444"/>
            <a:ext cx="309965" cy="309965"/>
          </a:xfrm>
          <a:prstGeom prst="rect">
            <a:avLst/>
          </a:prstGeom>
        </p:spPr>
      </p:pic>
      <p:pic>
        <p:nvPicPr>
          <p:cNvPr id="49" name="Gráfico 48" descr="Seta para Cima com preenchimento sólido">
            <a:extLst>
              <a:ext uri="{FF2B5EF4-FFF2-40B4-BE49-F238E27FC236}">
                <a16:creationId xmlns:a16="http://schemas.microsoft.com/office/drawing/2014/main" id="{81BA4ABA-7320-5A88-1C71-F825E70EBE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8878" y="2249321"/>
            <a:ext cx="309965" cy="309965"/>
          </a:xfrm>
          <a:prstGeom prst="rect">
            <a:avLst/>
          </a:prstGeom>
        </p:spPr>
      </p:pic>
      <p:pic>
        <p:nvPicPr>
          <p:cNvPr id="51" name="Gráfico 50" descr="Seta para Cima com preenchimento sólido">
            <a:extLst>
              <a:ext uri="{FF2B5EF4-FFF2-40B4-BE49-F238E27FC236}">
                <a16:creationId xmlns:a16="http://schemas.microsoft.com/office/drawing/2014/main" id="{487C6FE6-8144-6CD9-4A0C-485E2BE3C6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8874" y="3271792"/>
            <a:ext cx="309965" cy="309965"/>
          </a:xfrm>
          <a:prstGeom prst="rect">
            <a:avLst/>
          </a:prstGeom>
        </p:spPr>
      </p:pic>
      <p:pic>
        <p:nvPicPr>
          <p:cNvPr id="53" name="Gráfico 52" descr="Seta para Cima com preenchimento sólido">
            <a:extLst>
              <a:ext uri="{FF2B5EF4-FFF2-40B4-BE49-F238E27FC236}">
                <a16:creationId xmlns:a16="http://schemas.microsoft.com/office/drawing/2014/main" id="{F1B48BC7-9312-E09C-B4E3-93ECCFD7E9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5718866" y="4323203"/>
            <a:ext cx="309965" cy="309965"/>
          </a:xfrm>
          <a:prstGeom prst="rect">
            <a:avLst/>
          </a:prstGeom>
        </p:spPr>
      </p:pic>
      <p:pic>
        <p:nvPicPr>
          <p:cNvPr id="55" name="Gráfico 54" descr="Seta para Cima com preenchimento sólido">
            <a:extLst>
              <a:ext uri="{FF2B5EF4-FFF2-40B4-BE49-F238E27FC236}">
                <a16:creationId xmlns:a16="http://schemas.microsoft.com/office/drawing/2014/main" id="{CF1F0AE1-E99E-B724-E78B-7265D56379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8866" y="5483850"/>
            <a:ext cx="309965" cy="309965"/>
          </a:xfrm>
          <a:prstGeom prst="rect">
            <a:avLst/>
          </a:prstGeom>
        </p:spPr>
      </p:pic>
      <p:graphicFrame>
        <p:nvGraphicFramePr>
          <p:cNvPr id="56" name="Tabela 55">
            <a:extLst>
              <a:ext uri="{FF2B5EF4-FFF2-40B4-BE49-F238E27FC236}">
                <a16:creationId xmlns:a16="http://schemas.microsoft.com/office/drawing/2014/main" id="{3F0C31DE-DD0A-1B5F-04BF-FCD209DAE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610006"/>
              </p:ext>
            </p:extLst>
          </p:nvPr>
        </p:nvGraphicFramePr>
        <p:xfrm>
          <a:off x="6958738" y="1693059"/>
          <a:ext cx="3549113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5398">
                  <a:extLst>
                    <a:ext uri="{9D8B030D-6E8A-4147-A177-3AD203B41FA5}">
                      <a16:colId xmlns:a16="http://schemas.microsoft.com/office/drawing/2014/main" val="107275625"/>
                    </a:ext>
                  </a:extLst>
                </a:gridCol>
                <a:gridCol w="1301857">
                  <a:extLst>
                    <a:ext uri="{9D8B030D-6E8A-4147-A177-3AD203B41FA5}">
                      <a16:colId xmlns:a16="http://schemas.microsoft.com/office/drawing/2014/main" val="1904851804"/>
                    </a:ext>
                  </a:extLst>
                </a:gridCol>
                <a:gridCol w="1301858">
                  <a:extLst>
                    <a:ext uri="{9D8B030D-6E8A-4147-A177-3AD203B41FA5}">
                      <a16:colId xmlns:a16="http://schemas.microsoft.com/office/drawing/2014/main" val="1675015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Previsto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Previsto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148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Real 0</a:t>
                      </a:r>
                    </a:p>
                  </a:txBody>
                  <a:tcPr>
                    <a:solidFill>
                      <a:srgbClr val="EA1D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40,8 %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14,7 %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783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Real 1</a:t>
                      </a:r>
                    </a:p>
                  </a:txBody>
                  <a:tcPr>
                    <a:solidFill>
                      <a:srgbClr val="EA1D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21,9 %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22,6 %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430842"/>
                  </a:ext>
                </a:extLst>
              </a:tr>
            </a:tbl>
          </a:graphicData>
        </a:graphic>
      </p:graphicFrame>
      <p:sp>
        <p:nvSpPr>
          <p:cNvPr id="57" name="Espaço Reservado para Conteúdo 2">
            <a:extLst>
              <a:ext uri="{FF2B5EF4-FFF2-40B4-BE49-F238E27FC236}">
                <a16:creationId xmlns:a16="http://schemas.microsoft.com/office/drawing/2014/main" id="{D2225ACD-27AC-3D49-6C29-B31BBA728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0878" y="3290894"/>
            <a:ext cx="4937502" cy="2684550"/>
          </a:xfrm>
        </p:spPr>
        <p:txBody>
          <a:bodyPr>
            <a:normAutofit/>
          </a:bodyPr>
          <a:lstStyle/>
          <a:p>
            <a:r>
              <a:rPr lang="pt-BR" sz="2000" dirty="0"/>
              <a:t>BOGO é o tipo com </a:t>
            </a:r>
            <a:r>
              <a:rPr lang="pt-BR" sz="2000" b="1" dirty="0"/>
              <a:t>menor previsibilidade</a:t>
            </a:r>
            <a:r>
              <a:rPr lang="pt-BR" sz="2000" dirty="0"/>
              <a:t> entre os três (AUC 0,69)</a:t>
            </a:r>
          </a:p>
          <a:p>
            <a:r>
              <a:rPr lang="pt-BR" sz="2000" dirty="0"/>
              <a:t>Comportamento do cliente parece depender mais de fatores fora dos dados disponíveis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E5F36875-12DC-FD36-6C6F-256EAA55136F}"/>
              </a:ext>
            </a:extLst>
          </p:cNvPr>
          <p:cNvSpPr txBox="1">
            <a:spLocks/>
          </p:cNvSpPr>
          <p:nvPr/>
        </p:nvSpPr>
        <p:spPr>
          <a:xfrm>
            <a:off x="513618" y="3798666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Valor mínimo de compra	0,34	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26ABAB5F-85CE-F457-850C-F09CE7BD2C26}"/>
              </a:ext>
            </a:extLst>
          </p:cNvPr>
          <p:cNvSpPr txBox="1">
            <a:spLocks/>
          </p:cNvSpPr>
          <p:nvPr/>
        </p:nvSpPr>
        <p:spPr>
          <a:xfrm>
            <a:off x="513618" y="4322499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Duração do cupom	0,23	</a:t>
            </a:r>
          </a:p>
        </p:txBody>
      </p:sp>
      <p:sp>
        <p:nvSpPr>
          <p:cNvPr id="17" name="Espaço Reservado para Conteúdo 2">
            <a:extLst>
              <a:ext uri="{FF2B5EF4-FFF2-40B4-BE49-F238E27FC236}">
                <a16:creationId xmlns:a16="http://schemas.microsoft.com/office/drawing/2014/main" id="{6D2D45E4-FD7A-424A-36FF-EE60087B897B}"/>
              </a:ext>
            </a:extLst>
          </p:cNvPr>
          <p:cNvSpPr txBox="1">
            <a:spLocks/>
          </p:cNvSpPr>
          <p:nvPr/>
        </p:nvSpPr>
        <p:spPr>
          <a:xfrm>
            <a:off x="513618" y="4885805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Cupom enviado pela web	0,18	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934DB77C-0041-A3F2-1AB7-366C9ED9D5A5}"/>
              </a:ext>
            </a:extLst>
          </p:cNvPr>
          <p:cNvSpPr txBox="1">
            <a:spLocks/>
          </p:cNvSpPr>
          <p:nvPr/>
        </p:nvSpPr>
        <p:spPr>
          <a:xfrm>
            <a:off x="513618" y="5472338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Tempo em que a conta foi criada 	0,12	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D18FFDF-389B-4B2C-BC46-4D6A6FE2C2D3}"/>
              </a:ext>
            </a:extLst>
          </p:cNvPr>
          <p:cNvSpPr/>
          <p:nvPr/>
        </p:nvSpPr>
        <p:spPr>
          <a:xfrm>
            <a:off x="480003" y="5970034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pic>
        <p:nvPicPr>
          <p:cNvPr id="14" name="Gráfico 13" descr="Seta para Cima com preenchimento sólido">
            <a:extLst>
              <a:ext uri="{FF2B5EF4-FFF2-40B4-BE49-F238E27FC236}">
                <a16:creationId xmlns:a16="http://schemas.microsoft.com/office/drawing/2014/main" id="{2E029C0D-6075-7051-351E-F3502EC165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9173" y="6021092"/>
            <a:ext cx="309965" cy="309965"/>
          </a:xfrm>
          <a:prstGeom prst="rect">
            <a:avLst/>
          </a:prstGeom>
        </p:spPr>
      </p:pic>
      <p:sp>
        <p:nvSpPr>
          <p:cNvPr id="18" name="Espaço Reservado para Conteúdo 2">
            <a:extLst>
              <a:ext uri="{FF2B5EF4-FFF2-40B4-BE49-F238E27FC236}">
                <a16:creationId xmlns:a16="http://schemas.microsoft.com/office/drawing/2014/main" id="{EA34FDF3-EEB0-4A15-0576-972000B8B481}"/>
              </a:ext>
            </a:extLst>
          </p:cNvPr>
          <p:cNvSpPr txBox="1">
            <a:spLocks/>
          </p:cNvSpPr>
          <p:nvPr/>
        </p:nvSpPr>
        <p:spPr>
          <a:xfrm>
            <a:off x="533925" y="6009580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Idade	0,06	</a:t>
            </a:r>
          </a:p>
        </p:txBody>
      </p:sp>
      <p:sp>
        <p:nvSpPr>
          <p:cNvPr id="22" name="Triângulo isósceles 21">
            <a:extLst>
              <a:ext uri="{FF2B5EF4-FFF2-40B4-BE49-F238E27FC236}">
                <a16:creationId xmlns:a16="http://schemas.microsoft.com/office/drawing/2014/main" id="{E464FC25-BE40-4173-E4F3-42B31A2DA380}"/>
              </a:ext>
            </a:extLst>
          </p:cNvPr>
          <p:cNvSpPr/>
          <p:nvPr/>
        </p:nvSpPr>
        <p:spPr>
          <a:xfrm>
            <a:off x="10394197" y="4633169"/>
            <a:ext cx="1797803" cy="2224831"/>
          </a:xfrm>
          <a:prstGeom prst="triangle">
            <a:avLst>
              <a:gd name="adj" fmla="val 100000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A8471555-DC7B-B377-634B-8024122DFBB1}"/>
              </a:ext>
            </a:extLst>
          </p:cNvPr>
          <p:cNvSpPr/>
          <p:nvPr/>
        </p:nvSpPr>
        <p:spPr>
          <a:xfrm>
            <a:off x="-1046136" y="-911585"/>
            <a:ext cx="2092271" cy="1992163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4378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4285C-A767-6F41-7107-F68C318AF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57E939-A2E3-871F-A6E3-6F2AAFE71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para cupons de Desconto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B58A9E0-2641-D5E4-78E6-DC1BF1AF561C}"/>
              </a:ext>
            </a:extLst>
          </p:cNvPr>
          <p:cNvSpPr/>
          <p:nvPr/>
        </p:nvSpPr>
        <p:spPr>
          <a:xfrm>
            <a:off x="464695" y="1582203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C10DF9B-BD7D-8D77-EB37-8CFB1CACB52B}"/>
              </a:ext>
            </a:extLst>
          </p:cNvPr>
          <p:cNvSpPr/>
          <p:nvPr/>
        </p:nvSpPr>
        <p:spPr>
          <a:xfrm>
            <a:off x="464695" y="2112340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AC30BD0-AF40-70D7-8D41-78B00104DD3D}"/>
              </a:ext>
            </a:extLst>
          </p:cNvPr>
          <p:cNvSpPr/>
          <p:nvPr/>
        </p:nvSpPr>
        <p:spPr>
          <a:xfrm>
            <a:off x="464695" y="2626981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0E2729E-D4C0-701A-4C3A-303BA6F940E4}"/>
              </a:ext>
            </a:extLst>
          </p:cNvPr>
          <p:cNvSpPr/>
          <p:nvPr/>
        </p:nvSpPr>
        <p:spPr>
          <a:xfrm>
            <a:off x="459698" y="3126122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85D2B33D-3E9F-5A00-CCF5-BCBA90C9C86B}"/>
              </a:ext>
            </a:extLst>
          </p:cNvPr>
          <p:cNvSpPr/>
          <p:nvPr/>
        </p:nvSpPr>
        <p:spPr>
          <a:xfrm>
            <a:off x="459698" y="3656261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/>
          </a:p>
        </p:txBody>
      </p:sp>
      <p:sp>
        <p:nvSpPr>
          <p:cNvPr id="21" name="Espaço Reservado para Conteúdo 2">
            <a:extLst>
              <a:ext uri="{FF2B5EF4-FFF2-40B4-BE49-F238E27FC236}">
                <a16:creationId xmlns:a16="http://schemas.microsoft.com/office/drawing/2014/main" id="{2F94A10A-AB52-C7E1-9B2B-DAC41C05AB67}"/>
              </a:ext>
            </a:extLst>
          </p:cNvPr>
          <p:cNvSpPr txBox="1">
            <a:spLocks/>
          </p:cNvSpPr>
          <p:nvPr/>
        </p:nvSpPr>
        <p:spPr>
          <a:xfrm>
            <a:off x="533925" y="1637989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Cupom enviado por rede social	1,11	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8DFE0BF5-0F6F-D002-5FCF-4DADD6BF0014}"/>
              </a:ext>
            </a:extLst>
          </p:cNvPr>
          <p:cNvSpPr/>
          <p:nvPr/>
        </p:nvSpPr>
        <p:spPr>
          <a:xfrm>
            <a:off x="459698" y="4170902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8F8636D3-181C-24D0-926B-CA1E67CD2352}"/>
              </a:ext>
            </a:extLst>
          </p:cNvPr>
          <p:cNvSpPr/>
          <p:nvPr/>
        </p:nvSpPr>
        <p:spPr>
          <a:xfrm>
            <a:off x="459696" y="4729534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/>
          </a:p>
        </p:txBody>
      </p:sp>
      <p:sp>
        <p:nvSpPr>
          <p:cNvPr id="34" name="Espaço Reservado para Conteúdo 2">
            <a:extLst>
              <a:ext uri="{FF2B5EF4-FFF2-40B4-BE49-F238E27FC236}">
                <a16:creationId xmlns:a16="http://schemas.microsoft.com/office/drawing/2014/main" id="{6FFB0140-C6A3-67E4-EDBE-D2A40FD7CE38}"/>
              </a:ext>
            </a:extLst>
          </p:cNvPr>
          <p:cNvSpPr txBox="1">
            <a:spLocks/>
          </p:cNvSpPr>
          <p:nvPr/>
        </p:nvSpPr>
        <p:spPr>
          <a:xfrm>
            <a:off x="556026" y="4765094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Gênero Feminino ou Outro	0,21	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F6526FAC-3D3F-7B2B-EFF1-1801706B84AA}"/>
              </a:ext>
            </a:extLst>
          </p:cNvPr>
          <p:cNvSpPr/>
          <p:nvPr/>
        </p:nvSpPr>
        <p:spPr>
          <a:xfrm>
            <a:off x="459696" y="5324306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pic>
        <p:nvPicPr>
          <p:cNvPr id="41" name="Gráfico 40" descr="Seta para Cima com preenchimento sólido">
            <a:extLst>
              <a:ext uri="{FF2B5EF4-FFF2-40B4-BE49-F238E27FC236}">
                <a16:creationId xmlns:a16="http://schemas.microsoft.com/office/drawing/2014/main" id="{9E63ACAB-3FC8-43E0-E908-1B2D8B4E5F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8882" y="2671514"/>
            <a:ext cx="309965" cy="309965"/>
          </a:xfrm>
          <a:prstGeom prst="rect">
            <a:avLst/>
          </a:prstGeom>
        </p:spPr>
      </p:pic>
      <p:pic>
        <p:nvPicPr>
          <p:cNvPr id="43" name="Gráfico 42" descr="Seta para Cima com preenchimento sólido">
            <a:extLst>
              <a:ext uri="{FF2B5EF4-FFF2-40B4-BE49-F238E27FC236}">
                <a16:creationId xmlns:a16="http://schemas.microsoft.com/office/drawing/2014/main" id="{9B640528-4B6D-3B46-274E-A9DEA3BEAE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718881" y="3707319"/>
            <a:ext cx="309965" cy="309965"/>
          </a:xfrm>
          <a:prstGeom prst="rect">
            <a:avLst/>
          </a:prstGeom>
        </p:spPr>
      </p:pic>
      <p:pic>
        <p:nvPicPr>
          <p:cNvPr id="45" name="Gráfico 44" descr="Seta para Cima com preenchimento sólido">
            <a:extLst>
              <a:ext uri="{FF2B5EF4-FFF2-40B4-BE49-F238E27FC236}">
                <a16:creationId xmlns:a16="http://schemas.microsoft.com/office/drawing/2014/main" id="{41F0EF63-D5D7-8D7B-06DD-EF672999A0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8880" y="4774205"/>
            <a:ext cx="309965" cy="309965"/>
          </a:xfrm>
          <a:prstGeom prst="rect">
            <a:avLst/>
          </a:prstGeom>
        </p:spPr>
      </p:pic>
      <p:pic>
        <p:nvPicPr>
          <p:cNvPr id="47" name="Gráfico 46" descr="Seta para Cima com preenchimento sólido">
            <a:extLst>
              <a:ext uri="{FF2B5EF4-FFF2-40B4-BE49-F238E27FC236}">
                <a16:creationId xmlns:a16="http://schemas.microsoft.com/office/drawing/2014/main" id="{A8ABD62A-574D-6F8A-9EE0-27A7DEF365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8879" y="1630958"/>
            <a:ext cx="309965" cy="309965"/>
          </a:xfrm>
          <a:prstGeom prst="rect">
            <a:avLst/>
          </a:prstGeom>
        </p:spPr>
      </p:pic>
      <p:pic>
        <p:nvPicPr>
          <p:cNvPr id="49" name="Gráfico 48" descr="Seta para Cima com preenchimento sólido">
            <a:extLst>
              <a:ext uri="{FF2B5EF4-FFF2-40B4-BE49-F238E27FC236}">
                <a16:creationId xmlns:a16="http://schemas.microsoft.com/office/drawing/2014/main" id="{72841AEA-750F-3B54-5425-D3D75A90D0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5718878" y="2140835"/>
            <a:ext cx="309965" cy="309965"/>
          </a:xfrm>
          <a:prstGeom prst="rect">
            <a:avLst/>
          </a:prstGeom>
        </p:spPr>
      </p:pic>
      <p:pic>
        <p:nvPicPr>
          <p:cNvPr id="51" name="Gráfico 50" descr="Seta para Cima com preenchimento sólido">
            <a:extLst>
              <a:ext uri="{FF2B5EF4-FFF2-40B4-BE49-F238E27FC236}">
                <a16:creationId xmlns:a16="http://schemas.microsoft.com/office/drawing/2014/main" id="{5E0DE7AD-603A-EB8E-D0CF-7370BF56A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8874" y="3163306"/>
            <a:ext cx="309965" cy="309965"/>
          </a:xfrm>
          <a:prstGeom prst="rect">
            <a:avLst/>
          </a:prstGeom>
        </p:spPr>
      </p:pic>
      <p:pic>
        <p:nvPicPr>
          <p:cNvPr id="53" name="Gráfico 52" descr="Seta para Cima com preenchimento sólido">
            <a:extLst>
              <a:ext uri="{FF2B5EF4-FFF2-40B4-BE49-F238E27FC236}">
                <a16:creationId xmlns:a16="http://schemas.microsoft.com/office/drawing/2014/main" id="{A516B594-C347-6C47-D419-816B71A557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8866" y="4214717"/>
            <a:ext cx="309965" cy="309965"/>
          </a:xfrm>
          <a:prstGeom prst="rect">
            <a:avLst/>
          </a:prstGeom>
        </p:spPr>
      </p:pic>
      <p:pic>
        <p:nvPicPr>
          <p:cNvPr id="55" name="Gráfico 54" descr="Seta para Cima com preenchimento sólido">
            <a:extLst>
              <a:ext uri="{FF2B5EF4-FFF2-40B4-BE49-F238E27FC236}">
                <a16:creationId xmlns:a16="http://schemas.microsoft.com/office/drawing/2014/main" id="{3D2B9B2F-0A9D-6E11-102B-9B85534A39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8866" y="5375364"/>
            <a:ext cx="309965" cy="309965"/>
          </a:xfrm>
          <a:prstGeom prst="rect">
            <a:avLst/>
          </a:prstGeom>
        </p:spPr>
      </p:pic>
      <p:graphicFrame>
        <p:nvGraphicFramePr>
          <p:cNvPr id="56" name="Tabela 55">
            <a:extLst>
              <a:ext uri="{FF2B5EF4-FFF2-40B4-BE49-F238E27FC236}">
                <a16:creationId xmlns:a16="http://schemas.microsoft.com/office/drawing/2014/main" id="{FD3F43AB-102A-B5F2-C4AD-AB261B0DD2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640750"/>
              </p:ext>
            </p:extLst>
          </p:nvPr>
        </p:nvGraphicFramePr>
        <p:xfrm>
          <a:off x="6958738" y="1693059"/>
          <a:ext cx="3549113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5398">
                  <a:extLst>
                    <a:ext uri="{9D8B030D-6E8A-4147-A177-3AD203B41FA5}">
                      <a16:colId xmlns:a16="http://schemas.microsoft.com/office/drawing/2014/main" val="107275625"/>
                    </a:ext>
                  </a:extLst>
                </a:gridCol>
                <a:gridCol w="1301857">
                  <a:extLst>
                    <a:ext uri="{9D8B030D-6E8A-4147-A177-3AD203B41FA5}">
                      <a16:colId xmlns:a16="http://schemas.microsoft.com/office/drawing/2014/main" val="1904851804"/>
                    </a:ext>
                  </a:extLst>
                </a:gridCol>
                <a:gridCol w="1301858">
                  <a:extLst>
                    <a:ext uri="{9D8B030D-6E8A-4147-A177-3AD203B41FA5}">
                      <a16:colId xmlns:a16="http://schemas.microsoft.com/office/drawing/2014/main" val="1675015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Previsto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Previsto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148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Real 0</a:t>
                      </a:r>
                    </a:p>
                  </a:txBody>
                  <a:tcPr>
                    <a:solidFill>
                      <a:srgbClr val="EA1D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26,0 %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17,6 %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783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Real 1</a:t>
                      </a:r>
                    </a:p>
                  </a:txBody>
                  <a:tcPr>
                    <a:solidFill>
                      <a:srgbClr val="EA1D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12,7 %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43,7 %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430842"/>
                  </a:ext>
                </a:extLst>
              </a:tr>
            </a:tbl>
          </a:graphicData>
        </a:graphic>
      </p:graphicFrame>
      <p:sp>
        <p:nvSpPr>
          <p:cNvPr id="57" name="Espaço Reservado para Conteúdo 2">
            <a:extLst>
              <a:ext uri="{FF2B5EF4-FFF2-40B4-BE49-F238E27FC236}">
                <a16:creationId xmlns:a16="http://schemas.microsoft.com/office/drawing/2014/main" id="{34F0F8C7-6E1E-0027-F187-54281AE24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0878" y="3290894"/>
            <a:ext cx="4937502" cy="2684550"/>
          </a:xfrm>
        </p:spPr>
        <p:txBody>
          <a:bodyPr>
            <a:normAutofit/>
          </a:bodyPr>
          <a:lstStyle/>
          <a:p>
            <a:r>
              <a:rPr lang="pt-BR" sz="2000" dirty="0"/>
              <a:t>Desconto é o tipo com </a:t>
            </a:r>
            <a:r>
              <a:rPr lang="pt-BR" sz="2000" b="1" dirty="0"/>
              <a:t>melhor performance geral</a:t>
            </a:r>
            <a:r>
              <a:rPr lang="pt-BR" sz="2000" dirty="0"/>
              <a:t> (AUC 0,76, Recall 77%)</a:t>
            </a:r>
          </a:p>
          <a:p>
            <a:r>
              <a:rPr lang="pt-BR" sz="2000" dirty="0"/>
              <a:t>Modelo captura a grande maioria das conversões reais -&gt; boa confiabilidade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9F07B81C-F433-94E9-68BE-0E52A0E4D8E0}"/>
              </a:ext>
            </a:extLst>
          </p:cNvPr>
          <p:cNvSpPr txBox="1">
            <a:spLocks/>
          </p:cNvSpPr>
          <p:nvPr/>
        </p:nvSpPr>
        <p:spPr>
          <a:xfrm>
            <a:off x="513618" y="3690180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Valor mínimo de compra	0,24	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4F029951-D079-5A10-823C-7B5C3D5C01C8}"/>
              </a:ext>
            </a:extLst>
          </p:cNvPr>
          <p:cNvSpPr txBox="1">
            <a:spLocks/>
          </p:cNvSpPr>
          <p:nvPr/>
        </p:nvSpPr>
        <p:spPr>
          <a:xfrm>
            <a:off x="513618" y="4214013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Duração do cupom	0,21	</a:t>
            </a:r>
          </a:p>
        </p:txBody>
      </p:sp>
      <p:sp>
        <p:nvSpPr>
          <p:cNvPr id="17" name="Espaço Reservado para Conteúdo 2">
            <a:extLst>
              <a:ext uri="{FF2B5EF4-FFF2-40B4-BE49-F238E27FC236}">
                <a16:creationId xmlns:a16="http://schemas.microsoft.com/office/drawing/2014/main" id="{912CE44F-807B-B112-F5AC-D02890989B0F}"/>
              </a:ext>
            </a:extLst>
          </p:cNvPr>
          <p:cNvSpPr txBox="1">
            <a:spLocks/>
          </p:cNvSpPr>
          <p:nvPr/>
        </p:nvSpPr>
        <p:spPr>
          <a:xfrm>
            <a:off x="556026" y="3182408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Cupom enviado via mobile	0,36	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1820A023-5394-16BC-BB2E-8E5B9B9EEE34}"/>
              </a:ext>
            </a:extLst>
          </p:cNvPr>
          <p:cNvSpPr txBox="1">
            <a:spLocks/>
          </p:cNvSpPr>
          <p:nvPr/>
        </p:nvSpPr>
        <p:spPr>
          <a:xfrm>
            <a:off x="538479" y="2667483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Tempo em que a conta foi criada 	0,44	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1CE88EE-07CB-6E0C-3B44-F2E7A8AA99F2}"/>
              </a:ext>
            </a:extLst>
          </p:cNvPr>
          <p:cNvSpPr/>
          <p:nvPr/>
        </p:nvSpPr>
        <p:spPr>
          <a:xfrm>
            <a:off x="480003" y="5861548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pic>
        <p:nvPicPr>
          <p:cNvPr id="14" name="Gráfico 13" descr="Seta para Cima com preenchimento sólido">
            <a:extLst>
              <a:ext uri="{FF2B5EF4-FFF2-40B4-BE49-F238E27FC236}">
                <a16:creationId xmlns:a16="http://schemas.microsoft.com/office/drawing/2014/main" id="{20A75EF2-22EA-8119-1AD3-EE3E58FEC5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5739173" y="5912606"/>
            <a:ext cx="309965" cy="309965"/>
          </a:xfrm>
          <a:prstGeom prst="rect">
            <a:avLst/>
          </a:prstGeom>
        </p:spPr>
      </p:pic>
      <p:sp>
        <p:nvSpPr>
          <p:cNvPr id="18" name="Espaço Reservado para Conteúdo 2">
            <a:extLst>
              <a:ext uri="{FF2B5EF4-FFF2-40B4-BE49-F238E27FC236}">
                <a16:creationId xmlns:a16="http://schemas.microsoft.com/office/drawing/2014/main" id="{29BDFB38-65EE-63E8-B6D3-649A2544FBE6}"/>
              </a:ext>
            </a:extLst>
          </p:cNvPr>
          <p:cNvSpPr txBox="1">
            <a:spLocks/>
          </p:cNvSpPr>
          <p:nvPr/>
        </p:nvSpPr>
        <p:spPr>
          <a:xfrm>
            <a:off x="533925" y="5901094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Valor do desconto	0,10	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ADA30C2-F64A-0BC4-E4DE-DCE7646F6CC4}"/>
              </a:ext>
            </a:extLst>
          </p:cNvPr>
          <p:cNvSpPr txBox="1">
            <a:spLocks/>
          </p:cNvSpPr>
          <p:nvPr/>
        </p:nvSpPr>
        <p:spPr>
          <a:xfrm>
            <a:off x="533925" y="2136670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Perfil não preenchido	1,01	</a:t>
            </a:r>
          </a:p>
        </p:txBody>
      </p:sp>
      <p:sp>
        <p:nvSpPr>
          <p:cNvPr id="25" name="Espaço Reservado para Conteúdo 2">
            <a:extLst>
              <a:ext uri="{FF2B5EF4-FFF2-40B4-BE49-F238E27FC236}">
                <a16:creationId xmlns:a16="http://schemas.microsoft.com/office/drawing/2014/main" id="{8F4B2258-4758-40CD-7417-09D01AA5A930}"/>
              </a:ext>
            </a:extLst>
          </p:cNvPr>
          <p:cNvSpPr txBox="1">
            <a:spLocks/>
          </p:cNvSpPr>
          <p:nvPr/>
        </p:nvSpPr>
        <p:spPr>
          <a:xfrm>
            <a:off x="533925" y="5372472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Limite do cartão de crédito	0,14	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9FDFECD-DD41-ED56-F00E-3E6CE278B5AA}"/>
              </a:ext>
            </a:extLst>
          </p:cNvPr>
          <p:cNvSpPr/>
          <p:nvPr/>
        </p:nvSpPr>
        <p:spPr>
          <a:xfrm>
            <a:off x="459696" y="6336643"/>
            <a:ext cx="5616000" cy="3701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/>
          </a:p>
        </p:txBody>
      </p:sp>
      <p:pic>
        <p:nvPicPr>
          <p:cNvPr id="16" name="Gráfico 15" descr="Seta para Cima com preenchimento sólido">
            <a:extLst>
              <a:ext uri="{FF2B5EF4-FFF2-40B4-BE49-F238E27FC236}">
                <a16:creationId xmlns:a16="http://schemas.microsoft.com/office/drawing/2014/main" id="{0FFAC8DD-D980-4890-AAD7-2E24044A74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8866" y="6387701"/>
            <a:ext cx="309965" cy="309965"/>
          </a:xfrm>
          <a:prstGeom prst="rect">
            <a:avLst/>
          </a:prstGeom>
        </p:spPr>
      </p:pic>
      <p:sp>
        <p:nvSpPr>
          <p:cNvPr id="22" name="Espaço Reservado para Conteúdo 2">
            <a:extLst>
              <a:ext uri="{FF2B5EF4-FFF2-40B4-BE49-F238E27FC236}">
                <a16:creationId xmlns:a16="http://schemas.microsoft.com/office/drawing/2014/main" id="{6C193FB6-CE4C-E241-4A59-B89F04EF0206}"/>
              </a:ext>
            </a:extLst>
          </p:cNvPr>
          <p:cNvSpPr txBox="1">
            <a:spLocks/>
          </p:cNvSpPr>
          <p:nvPr/>
        </p:nvSpPr>
        <p:spPr>
          <a:xfrm>
            <a:off x="513618" y="6376189"/>
            <a:ext cx="5238862" cy="301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478338" algn="l"/>
              </a:tabLst>
            </a:pPr>
            <a:r>
              <a:rPr lang="pt-BR" sz="1600" dirty="0"/>
              <a:t>Idade	0,06	</a:t>
            </a:r>
          </a:p>
        </p:txBody>
      </p:sp>
      <p:sp>
        <p:nvSpPr>
          <p:cNvPr id="26" name="Triângulo isósceles 25">
            <a:extLst>
              <a:ext uri="{FF2B5EF4-FFF2-40B4-BE49-F238E27FC236}">
                <a16:creationId xmlns:a16="http://schemas.microsoft.com/office/drawing/2014/main" id="{24602E94-A19C-0857-46AF-28E30FF75E41}"/>
              </a:ext>
            </a:extLst>
          </p:cNvPr>
          <p:cNvSpPr/>
          <p:nvPr/>
        </p:nvSpPr>
        <p:spPr>
          <a:xfrm>
            <a:off x="10394197" y="4633169"/>
            <a:ext cx="1797803" cy="2224831"/>
          </a:xfrm>
          <a:prstGeom prst="triangle">
            <a:avLst>
              <a:gd name="adj" fmla="val 100000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38A6C824-55A3-A9BA-B569-1272290FF010}"/>
              </a:ext>
            </a:extLst>
          </p:cNvPr>
          <p:cNvSpPr/>
          <p:nvPr/>
        </p:nvSpPr>
        <p:spPr>
          <a:xfrm>
            <a:off x="-1046136" y="-911585"/>
            <a:ext cx="2092271" cy="1992163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3200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6075A-10C1-8BCB-2203-7E3C85A07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2B3C3C-8469-86C6-649B-FF088E833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Considerações finais</a:t>
            </a:r>
          </a:p>
        </p:txBody>
      </p:sp>
      <p:graphicFrame>
        <p:nvGraphicFramePr>
          <p:cNvPr id="14" name="Espaço Reservado para Conteúdo 2">
            <a:extLst>
              <a:ext uri="{FF2B5EF4-FFF2-40B4-BE49-F238E27FC236}">
                <a16:creationId xmlns:a16="http://schemas.microsoft.com/office/drawing/2014/main" id="{6E74349B-F4BC-9133-4594-AEFC456DF5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404986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6" name="Elipse 25">
            <a:extLst>
              <a:ext uri="{FF2B5EF4-FFF2-40B4-BE49-F238E27FC236}">
                <a16:creationId xmlns:a16="http://schemas.microsoft.com/office/drawing/2014/main" id="{5741BB2E-EC01-0BB5-9B00-656092AB5A2C}"/>
              </a:ext>
            </a:extLst>
          </p:cNvPr>
          <p:cNvSpPr/>
          <p:nvPr/>
        </p:nvSpPr>
        <p:spPr>
          <a:xfrm>
            <a:off x="-1046136" y="-911585"/>
            <a:ext cx="2092271" cy="1992163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35565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3F3E3E"/>
      </a:dk2>
      <a:lt2>
        <a:srgbClr val="E8E8E8"/>
      </a:lt2>
      <a:accent1>
        <a:srgbClr val="EA1D2C"/>
      </a:accent1>
      <a:accent2>
        <a:srgbClr val="F1616B"/>
      </a:accent2>
      <a:accent3>
        <a:srgbClr val="FADBD8"/>
      </a:accent3>
      <a:accent4>
        <a:srgbClr val="A50E1E"/>
      </a:accent4>
      <a:accent5>
        <a:srgbClr val="8C8C8C"/>
      </a:accent5>
      <a:accent6>
        <a:srgbClr val="EA1D2C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540</Words>
  <Application>Microsoft Office PowerPoint</Application>
  <PresentationFormat>Widescreen</PresentationFormat>
  <Paragraphs>83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do Office</vt:lpstr>
      <vt:lpstr>Case Técnico Data Science</vt:lpstr>
      <vt:lpstr>Para quem enviar cupons?</vt:lpstr>
      <vt:lpstr>Modelo para cupons Informacionais</vt:lpstr>
      <vt:lpstr>Modelo para cupons BOGO</vt:lpstr>
      <vt:lpstr>Modelo para cupons de Desconto</vt:lpstr>
      <vt:lpstr>Considerações finais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Denise Silva</dc:creator>
  <cp:lastModifiedBy>Denise Silva</cp:lastModifiedBy>
  <cp:revision>2</cp:revision>
  <dcterms:created xsi:type="dcterms:W3CDTF">2026-07-15T19:44:46Z</dcterms:created>
  <dcterms:modified xsi:type="dcterms:W3CDTF">2026-07-16T00:53:59Z</dcterms:modified>
</cp:coreProperties>
</file>