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1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78" y="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471EF-77C5-4BC2-9E59-A24810FF1F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3D833-2A36-4774-9ECB-2B60E0ED77F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 objetivo é maximizar o envio de cupons que converterão em transações</a:t>
          </a:r>
          <a:endParaRPr lang="en-US"/>
        </a:p>
      </dgm:t>
    </dgm:pt>
    <dgm:pt modelId="{E38907C0-2C49-4C96-9ACF-78DA50784EEB}" type="parTrans" cxnId="{617D1263-62E6-46B7-A608-BECDD433F185}">
      <dgm:prSet/>
      <dgm:spPr/>
      <dgm:t>
        <a:bodyPr/>
        <a:lstStyle/>
        <a:p>
          <a:endParaRPr lang="en-US"/>
        </a:p>
      </dgm:t>
    </dgm:pt>
    <dgm:pt modelId="{0B6044A3-07F6-44DF-89F4-760DD0D2E3E4}" type="sibTrans" cxnId="{617D1263-62E6-46B7-A608-BECDD433F185}">
      <dgm:prSet/>
      <dgm:spPr/>
      <dgm:t>
        <a:bodyPr/>
        <a:lstStyle/>
        <a:p>
          <a:endParaRPr lang="en-US"/>
        </a:p>
      </dgm:t>
    </dgm:pt>
    <dgm:pt modelId="{0A09ABA7-102D-4924-BB69-40D425B4674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Cupons devem estimular a compra</a:t>
          </a:r>
          <a:endParaRPr lang="en-US"/>
        </a:p>
      </dgm:t>
    </dgm:pt>
    <dgm:pt modelId="{D47A7414-8F5E-4632-BCF8-19A0AA99BB42}" type="parTrans" cxnId="{2D43C5C6-A1D7-4630-8318-16947B863476}">
      <dgm:prSet/>
      <dgm:spPr/>
      <dgm:t>
        <a:bodyPr/>
        <a:lstStyle/>
        <a:p>
          <a:endParaRPr lang="en-US"/>
        </a:p>
      </dgm:t>
    </dgm:pt>
    <dgm:pt modelId="{6CC51C18-3902-4DAF-B1C5-0D830BAFF47C}" type="sibTrans" cxnId="{2D43C5C6-A1D7-4630-8318-16947B863476}">
      <dgm:prSet/>
      <dgm:spPr/>
      <dgm:t>
        <a:bodyPr/>
        <a:lstStyle/>
        <a:p>
          <a:endParaRPr lang="en-US"/>
        </a:p>
      </dgm:t>
    </dgm:pt>
    <dgm:pt modelId="{FED93660-3CE5-4822-9277-31037F2473F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Ignorar  </a:t>
          </a:r>
          <a:r>
            <a:rPr lang="pt-BR" b="1" dirty="0">
              <a:solidFill>
                <a:srgbClr val="FF0000"/>
              </a:solidFill>
            </a:rPr>
            <a:t>X</a:t>
          </a:r>
          <a:endParaRPr lang="en-US" b="1" dirty="0">
            <a:solidFill>
              <a:srgbClr val="FF0000"/>
            </a:solidFill>
          </a:endParaRPr>
        </a:p>
      </dgm:t>
    </dgm:pt>
    <dgm:pt modelId="{70C94F35-A44D-4CC7-8C44-17D329FD8F6E}" type="parTrans" cxnId="{2F625754-EE13-4343-808E-25D9DF3BECC1}">
      <dgm:prSet/>
      <dgm:spPr/>
      <dgm:t>
        <a:bodyPr/>
        <a:lstStyle/>
        <a:p>
          <a:endParaRPr lang="en-US"/>
        </a:p>
      </dgm:t>
    </dgm:pt>
    <dgm:pt modelId="{5E2B0036-0A47-4BF4-A02B-3B2C0C0D0B85}" type="sibTrans" cxnId="{2F625754-EE13-4343-808E-25D9DF3BECC1}">
      <dgm:prSet/>
      <dgm:spPr/>
      <dgm:t>
        <a:bodyPr/>
        <a:lstStyle/>
        <a:p>
          <a:endParaRPr lang="en-US"/>
        </a:p>
      </dgm:t>
    </dgm:pt>
    <dgm:pt modelId="{A3F00695-36A0-4FFA-88D5-15FCA585468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Compra já seria feita independente do cupom </a:t>
          </a:r>
          <a:r>
            <a:rPr lang="pt-BR" b="1" dirty="0">
              <a:solidFill>
                <a:srgbClr val="FF0000"/>
              </a:solidFill>
            </a:rPr>
            <a:t>X</a:t>
          </a:r>
          <a:endParaRPr lang="en-US" b="1" dirty="0">
            <a:solidFill>
              <a:srgbClr val="FF0000"/>
            </a:solidFill>
          </a:endParaRPr>
        </a:p>
      </dgm:t>
    </dgm:pt>
    <dgm:pt modelId="{78C257EE-E401-4A97-B7C0-7BC5EF41D5E0}" type="parTrans" cxnId="{E78BD051-9336-417F-B724-5AC0ACF06E29}">
      <dgm:prSet/>
      <dgm:spPr/>
      <dgm:t>
        <a:bodyPr/>
        <a:lstStyle/>
        <a:p>
          <a:endParaRPr lang="en-US"/>
        </a:p>
      </dgm:t>
    </dgm:pt>
    <dgm:pt modelId="{0190EE96-E166-41E7-8535-5B4BF27FAEC1}" type="sibTrans" cxnId="{E78BD051-9336-417F-B724-5AC0ACF06E29}">
      <dgm:prSet/>
      <dgm:spPr/>
      <dgm:t>
        <a:bodyPr/>
        <a:lstStyle/>
        <a:p>
          <a:endParaRPr lang="en-US"/>
        </a:p>
      </dgm:t>
    </dgm:pt>
    <dgm:pt modelId="{4C639C60-1ED7-45C7-AC04-77D5F4AD4E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Evento alvo:</a:t>
          </a:r>
          <a:endParaRPr lang="en-US"/>
        </a:p>
      </dgm:t>
    </dgm:pt>
    <dgm:pt modelId="{36A05D82-CB85-4CB9-BD83-2EEC44041325}" type="parTrans" cxnId="{E17CF025-DBBD-493E-B4E2-F3760F0E8AFC}">
      <dgm:prSet/>
      <dgm:spPr/>
      <dgm:t>
        <a:bodyPr/>
        <a:lstStyle/>
        <a:p>
          <a:endParaRPr lang="en-US"/>
        </a:p>
      </dgm:t>
    </dgm:pt>
    <dgm:pt modelId="{49AC91DB-0D3C-468A-A784-054293E89C4B}" type="sibTrans" cxnId="{E17CF025-DBBD-493E-B4E2-F3760F0E8AFC}">
      <dgm:prSet/>
      <dgm:spPr/>
      <dgm:t>
        <a:bodyPr/>
        <a:lstStyle/>
        <a:p>
          <a:endParaRPr lang="en-US"/>
        </a:p>
      </dgm:t>
    </dgm:pt>
    <dgm:pt modelId="{5847BA37-A5C3-4ABE-948E-181AFA066A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offer received → offer viewed → [transaction(s)] → offer completed</a:t>
          </a:r>
        </a:p>
      </dgm:t>
    </dgm:pt>
    <dgm:pt modelId="{D96AA69B-B82A-4021-B178-88323F7B2374}" type="parTrans" cxnId="{9DB3B015-BAC0-40C9-9C41-0BA8D4A9DAB6}">
      <dgm:prSet/>
      <dgm:spPr/>
      <dgm:t>
        <a:bodyPr/>
        <a:lstStyle/>
        <a:p>
          <a:endParaRPr lang="en-US"/>
        </a:p>
      </dgm:t>
    </dgm:pt>
    <dgm:pt modelId="{AC606595-D084-4812-9EFF-031CFEBE0A2A}" type="sibTrans" cxnId="{9DB3B015-BAC0-40C9-9C41-0BA8D4A9DAB6}">
      <dgm:prSet/>
      <dgm:spPr/>
      <dgm:t>
        <a:bodyPr/>
        <a:lstStyle/>
        <a:p>
          <a:endParaRPr lang="en-US"/>
        </a:p>
      </dgm:t>
    </dgm:pt>
    <dgm:pt modelId="{08CF979B-7A32-4AC5-A84C-28F510C73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Dentro da janela de duração do cupom</a:t>
          </a:r>
        </a:p>
      </dgm:t>
    </dgm:pt>
    <dgm:pt modelId="{22892451-8640-4F91-B947-049333217FBD}" type="parTrans" cxnId="{7C246085-2A29-46BE-83FF-09C56A6D6FEE}">
      <dgm:prSet/>
      <dgm:spPr/>
      <dgm:t>
        <a:bodyPr/>
        <a:lstStyle/>
        <a:p>
          <a:endParaRPr lang="en-US"/>
        </a:p>
      </dgm:t>
    </dgm:pt>
    <dgm:pt modelId="{08D4359C-6ACA-4C02-B8B3-38FE6A57DDD0}" type="sibTrans" cxnId="{7C246085-2A29-46BE-83FF-09C56A6D6FEE}">
      <dgm:prSet/>
      <dgm:spPr/>
      <dgm:t>
        <a:bodyPr/>
        <a:lstStyle/>
        <a:p>
          <a:endParaRPr lang="en-US"/>
        </a:p>
      </dgm:t>
    </dgm:pt>
    <dgm:pt modelId="{34610C35-9F4B-4146-BD49-E187B4FFE1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Para cupom informacional não há o offer completed</a:t>
          </a:r>
        </a:p>
      </dgm:t>
    </dgm:pt>
    <dgm:pt modelId="{1E3A05F2-A260-486E-948E-1B069F19231E}" type="parTrans" cxnId="{74D5AB6C-EF8E-4D4F-9A4C-F56E552B9096}">
      <dgm:prSet/>
      <dgm:spPr/>
      <dgm:t>
        <a:bodyPr/>
        <a:lstStyle/>
        <a:p>
          <a:endParaRPr lang="en-US"/>
        </a:p>
      </dgm:t>
    </dgm:pt>
    <dgm:pt modelId="{B72310DA-AC06-48F6-B8B7-3F9E671F6C1C}" type="sibTrans" cxnId="{74D5AB6C-EF8E-4D4F-9A4C-F56E552B9096}">
      <dgm:prSet/>
      <dgm:spPr/>
      <dgm:t>
        <a:bodyPr/>
        <a:lstStyle/>
        <a:p>
          <a:endParaRPr lang="en-US"/>
        </a:p>
      </dgm:t>
    </dgm:pt>
    <dgm:pt modelId="{983D59DD-BB26-402A-96B3-95AA4EFFB37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Um modelo para cada tipo de cupom (BOGO, Informacional e Desconto)</a:t>
          </a:r>
          <a:endParaRPr lang="en-US"/>
        </a:p>
      </dgm:t>
    </dgm:pt>
    <dgm:pt modelId="{70BF3FAE-05A3-4BAE-AE98-FC97DBEFC8D8}" type="parTrans" cxnId="{0EBBFDAA-F142-4E46-A8AF-E3D67BE46C70}">
      <dgm:prSet/>
      <dgm:spPr/>
      <dgm:t>
        <a:bodyPr/>
        <a:lstStyle/>
        <a:p>
          <a:endParaRPr lang="en-US"/>
        </a:p>
      </dgm:t>
    </dgm:pt>
    <dgm:pt modelId="{11CD30A3-D0BA-40B9-BEAF-7088D7D5ECC6}" type="sibTrans" cxnId="{0EBBFDAA-F142-4E46-A8AF-E3D67BE46C70}">
      <dgm:prSet/>
      <dgm:spPr/>
      <dgm:t>
        <a:bodyPr/>
        <a:lstStyle/>
        <a:p>
          <a:endParaRPr lang="en-US"/>
        </a:p>
      </dgm:t>
    </dgm:pt>
    <dgm:pt modelId="{CE15D2B6-BBEF-4CA0-B7FF-95BD95314FCC}" type="pres">
      <dgm:prSet presAssocID="{5BD471EF-77C5-4BC2-9E59-A24810FF1F56}" presName="root" presStyleCnt="0">
        <dgm:presLayoutVars>
          <dgm:dir/>
          <dgm:resizeHandles val="exact"/>
        </dgm:presLayoutVars>
      </dgm:prSet>
      <dgm:spPr/>
    </dgm:pt>
    <dgm:pt modelId="{5C8D1A64-6992-4D14-B20B-F35D92339B0F}" type="pres">
      <dgm:prSet presAssocID="{7E53D833-2A36-4774-9ECB-2B60E0ED77F1}" presName="compNode" presStyleCnt="0"/>
      <dgm:spPr/>
    </dgm:pt>
    <dgm:pt modelId="{C59142EC-4F6E-49A8-843F-D9E31B839347}" type="pres">
      <dgm:prSet presAssocID="{7E53D833-2A36-4774-9ECB-2B60E0ED77F1}" presName="bgRect" presStyleLbl="bgShp" presStyleIdx="0" presStyleCnt="4"/>
      <dgm:spPr/>
    </dgm:pt>
    <dgm:pt modelId="{C5695ACF-89EC-4B2C-BA32-FEB63109C3AB}" type="pres">
      <dgm:prSet presAssocID="{7E53D833-2A36-4774-9ECB-2B60E0ED77F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66BEB79A-6D0A-422E-A873-8A8F744D39CA}" type="pres">
      <dgm:prSet presAssocID="{7E53D833-2A36-4774-9ECB-2B60E0ED77F1}" presName="spaceRect" presStyleCnt="0"/>
      <dgm:spPr/>
    </dgm:pt>
    <dgm:pt modelId="{E903A53E-BBF4-4CA3-BC89-20695374C086}" type="pres">
      <dgm:prSet presAssocID="{7E53D833-2A36-4774-9ECB-2B60E0ED77F1}" presName="parTx" presStyleLbl="revTx" presStyleIdx="0" presStyleCnt="6">
        <dgm:presLayoutVars>
          <dgm:chMax val="0"/>
          <dgm:chPref val="0"/>
        </dgm:presLayoutVars>
      </dgm:prSet>
      <dgm:spPr/>
    </dgm:pt>
    <dgm:pt modelId="{FD447D0A-6FAB-426B-8B45-0E6F6E3F2D9B}" type="pres">
      <dgm:prSet presAssocID="{0B6044A3-07F6-44DF-89F4-760DD0D2E3E4}" presName="sibTrans" presStyleCnt="0"/>
      <dgm:spPr/>
    </dgm:pt>
    <dgm:pt modelId="{D297D9D6-CBE4-4F2B-BF4F-FC50AA862921}" type="pres">
      <dgm:prSet presAssocID="{0A09ABA7-102D-4924-BB69-40D425B4674B}" presName="compNode" presStyleCnt="0"/>
      <dgm:spPr/>
    </dgm:pt>
    <dgm:pt modelId="{CA9B8FDD-E385-42C0-AE61-0BFAFE01DEB1}" type="pres">
      <dgm:prSet presAssocID="{0A09ABA7-102D-4924-BB69-40D425B4674B}" presName="bgRect" presStyleLbl="bgShp" presStyleIdx="1" presStyleCnt="4"/>
      <dgm:spPr/>
    </dgm:pt>
    <dgm:pt modelId="{15CB2072-7BD5-478E-A4A4-39AE1B4C3472}" type="pres">
      <dgm:prSet presAssocID="{0A09ABA7-102D-4924-BB69-40D425B4674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D060CEC0-0AEA-47C6-BD5E-0C7F208C3B71}" type="pres">
      <dgm:prSet presAssocID="{0A09ABA7-102D-4924-BB69-40D425B4674B}" presName="spaceRect" presStyleCnt="0"/>
      <dgm:spPr/>
    </dgm:pt>
    <dgm:pt modelId="{39997479-6786-4A3C-B9A6-45BE8E7CC3AA}" type="pres">
      <dgm:prSet presAssocID="{0A09ABA7-102D-4924-BB69-40D425B4674B}" presName="parTx" presStyleLbl="revTx" presStyleIdx="1" presStyleCnt="6">
        <dgm:presLayoutVars>
          <dgm:chMax val="0"/>
          <dgm:chPref val="0"/>
        </dgm:presLayoutVars>
      </dgm:prSet>
      <dgm:spPr/>
    </dgm:pt>
    <dgm:pt modelId="{8A141E51-24CD-4771-8D5B-8C9DE070A5BD}" type="pres">
      <dgm:prSet presAssocID="{0A09ABA7-102D-4924-BB69-40D425B4674B}" presName="desTx" presStyleLbl="revTx" presStyleIdx="2" presStyleCnt="6">
        <dgm:presLayoutVars/>
      </dgm:prSet>
      <dgm:spPr/>
    </dgm:pt>
    <dgm:pt modelId="{0BDC95A7-385C-4E26-9273-DB68CC56B4BC}" type="pres">
      <dgm:prSet presAssocID="{6CC51C18-3902-4DAF-B1C5-0D830BAFF47C}" presName="sibTrans" presStyleCnt="0"/>
      <dgm:spPr/>
    </dgm:pt>
    <dgm:pt modelId="{51FFCD63-CD97-48A0-87C1-0C85EE2D2EBB}" type="pres">
      <dgm:prSet presAssocID="{4C639C60-1ED7-45C7-AC04-77D5F4AD4EF2}" presName="compNode" presStyleCnt="0"/>
      <dgm:spPr/>
    </dgm:pt>
    <dgm:pt modelId="{9897146B-A21D-4FAC-BE72-4AB6E91E159B}" type="pres">
      <dgm:prSet presAssocID="{4C639C60-1ED7-45C7-AC04-77D5F4AD4EF2}" presName="bgRect" presStyleLbl="bgShp" presStyleIdx="2" presStyleCnt="4"/>
      <dgm:spPr/>
    </dgm:pt>
    <dgm:pt modelId="{DFF76359-F8A6-4384-8F0C-30B65B29EFFA}" type="pres">
      <dgm:prSet presAssocID="{4C639C60-1ED7-45C7-AC04-77D5F4AD4E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B214888E-C6C4-4269-830A-AA04FCBD4D92}" type="pres">
      <dgm:prSet presAssocID="{4C639C60-1ED7-45C7-AC04-77D5F4AD4EF2}" presName="spaceRect" presStyleCnt="0"/>
      <dgm:spPr/>
    </dgm:pt>
    <dgm:pt modelId="{E276C63C-0735-4844-B719-5F842AC19CC7}" type="pres">
      <dgm:prSet presAssocID="{4C639C60-1ED7-45C7-AC04-77D5F4AD4EF2}" presName="parTx" presStyleLbl="revTx" presStyleIdx="3" presStyleCnt="6">
        <dgm:presLayoutVars>
          <dgm:chMax val="0"/>
          <dgm:chPref val="0"/>
        </dgm:presLayoutVars>
      </dgm:prSet>
      <dgm:spPr/>
    </dgm:pt>
    <dgm:pt modelId="{F2C15A5D-A6F8-4436-BE45-5095558E0BDD}" type="pres">
      <dgm:prSet presAssocID="{4C639C60-1ED7-45C7-AC04-77D5F4AD4EF2}" presName="desTx" presStyleLbl="revTx" presStyleIdx="4" presStyleCnt="6">
        <dgm:presLayoutVars/>
      </dgm:prSet>
      <dgm:spPr/>
    </dgm:pt>
    <dgm:pt modelId="{98720CD2-460F-46A8-B663-D94AC516C04E}" type="pres">
      <dgm:prSet presAssocID="{49AC91DB-0D3C-468A-A784-054293E89C4B}" presName="sibTrans" presStyleCnt="0"/>
      <dgm:spPr/>
    </dgm:pt>
    <dgm:pt modelId="{F0E33339-0BC6-4468-83BA-B62EBDD96EA8}" type="pres">
      <dgm:prSet presAssocID="{983D59DD-BB26-402A-96B3-95AA4EFFB376}" presName="compNode" presStyleCnt="0"/>
      <dgm:spPr/>
    </dgm:pt>
    <dgm:pt modelId="{3C6F5C41-CFC7-482B-9485-04C9BC72784D}" type="pres">
      <dgm:prSet presAssocID="{983D59DD-BB26-402A-96B3-95AA4EFFB376}" presName="bgRect" presStyleLbl="bgShp" presStyleIdx="3" presStyleCnt="4"/>
      <dgm:spPr/>
    </dgm:pt>
    <dgm:pt modelId="{2E83FF53-EC11-4AE6-AD3B-3B376D225FD7}" type="pres">
      <dgm:prSet presAssocID="{983D59DD-BB26-402A-96B3-95AA4EFFB37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F73E1A61-F243-4C6F-A190-E69AC59A26CF}" type="pres">
      <dgm:prSet presAssocID="{983D59DD-BB26-402A-96B3-95AA4EFFB376}" presName="spaceRect" presStyleCnt="0"/>
      <dgm:spPr/>
    </dgm:pt>
    <dgm:pt modelId="{0A3CE954-A0E0-4BF9-93FB-722340425720}" type="pres">
      <dgm:prSet presAssocID="{983D59DD-BB26-402A-96B3-95AA4EFFB37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56BF111-16DA-4C1E-A688-6BC7FA4568B5}" type="presOf" srcId="{5BD471EF-77C5-4BC2-9E59-A24810FF1F56}" destId="{CE15D2B6-BBEF-4CA0-B7FF-95BD95314FCC}" srcOrd="0" destOrd="0" presId="urn:microsoft.com/office/officeart/2018/2/layout/IconVerticalSolidList"/>
    <dgm:cxn modelId="{FC6D1313-DA90-407D-896A-A539F0F0B8BC}" type="presOf" srcId="{7E53D833-2A36-4774-9ECB-2B60E0ED77F1}" destId="{E903A53E-BBF4-4CA3-BC89-20695374C086}" srcOrd="0" destOrd="0" presId="urn:microsoft.com/office/officeart/2018/2/layout/IconVerticalSolidList"/>
    <dgm:cxn modelId="{9DB3B015-BAC0-40C9-9C41-0BA8D4A9DAB6}" srcId="{4C639C60-1ED7-45C7-AC04-77D5F4AD4EF2}" destId="{5847BA37-A5C3-4ABE-948E-181AFA066A78}" srcOrd="0" destOrd="0" parTransId="{D96AA69B-B82A-4021-B178-88323F7B2374}" sibTransId="{AC606595-D084-4812-9EFF-031CFEBE0A2A}"/>
    <dgm:cxn modelId="{E17CF025-DBBD-493E-B4E2-F3760F0E8AFC}" srcId="{5BD471EF-77C5-4BC2-9E59-A24810FF1F56}" destId="{4C639C60-1ED7-45C7-AC04-77D5F4AD4EF2}" srcOrd="2" destOrd="0" parTransId="{36A05D82-CB85-4CB9-BD83-2EEC44041325}" sibTransId="{49AC91DB-0D3C-468A-A784-054293E89C4B}"/>
    <dgm:cxn modelId="{A673E627-9F0C-44BD-8649-3F6D13D852B3}" type="presOf" srcId="{08CF979B-7A32-4AC5-A84C-28F510C73591}" destId="{F2C15A5D-A6F8-4436-BE45-5095558E0BDD}" srcOrd="0" destOrd="1" presId="urn:microsoft.com/office/officeart/2018/2/layout/IconVerticalSolidList"/>
    <dgm:cxn modelId="{617D1263-62E6-46B7-A608-BECDD433F185}" srcId="{5BD471EF-77C5-4BC2-9E59-A24810FF1F56}" destId="{7E53D833-2A36-4774-9ECB-2B60E0ED77F1}" srcOrd="0" destOrd="0" parTransId="{E38907C0-2C49-4C96-9ACF-78DA50784EEB}" sibTransId="{0B6044A3-07F6-44DF-89F4-760DD0D2E3E4}"/>
    <dgm:cxn modelId="{74D5AB6C-EF8E-4D4F-9A4C-F56E552B9096}" srcId="{4C639C60-1ED7-45C7-AC04-77D5F4AD4EF2}" destId="{34610C35-9F4B-4146-BD49-E187B4FFE115}" srcOrd="2" destOrd="0" parTransId="{1E3A05F2-A260-486E-948E-1B069F19231E}" sibTransId="{B72310DA-AC06-48F6-B8B7-3F9E671F6C1C}"/>
    <dgm:cxn modelId="{E78BD051-9336-417F-B724-5AC0ACF06E29}" srcId="{0A09ABA7-102D-4924-BB69-40D425B4674B}" destId="{A3F00695-36A0-4FFA-88D5-15FCA585468E}" srcOrd="1" destOrd="0" parTransId="{78C257EE-E401-4A97-B7C0-7BC5EF41D5E0}" sibTransId="{0190EE96-E166-41E7-8535-5B4BF27FAEC1}"/>
    <dgm:cxn modelId="{2F625754-EE13-4343-808E-25D9DF3BECC1}" srcId="{0A09ABA7-102D-4924-BB69-40D425B4674B}" destId="{FED93660-3CE5-4822-9277-31037F2473FD}" srcOrd="0" destOrd="0" parTransId="{70C94F35-A44D-4CC7-8C44-17D329FD8F6E}" sibTransId="{5E2B0036-0A47-4BF4-A02B-3B2C0C0D0B85}"/>
    <dgm:cxn modelId="{54749A7B-767E-41B2-9F1E-8CE4494B6774}" type="presOf" srcId="{FED93660-3CE5-4822-9277-31037F2473FD}" destId="{8A141E51-24CD-4771-8D5B-8C9DE070A5BD}" srcOrd="0" destOrd="0" presId="urn:microsoft.com/office/officeart/2018/2/layout/IconVerticalSolidList"/>
    <dgm:cxn modelId="{8CB8A780-0847-48C5-968F-3EAD788F3F8C}" type="presOf" srcId="{0A09ABA7-102D-4924-BB69-40D425B4674B}" destId="{39997479-6786-4A3C-B9A6-45BE8E7CC3AA}" srcOrd="0" destOrd="0" presId="urn:microsoft.com/office/officeart/2018/2/layout/IconVerticalSolidList"/>
    <dgm:cxn modelId="{7C246085-2A29-46BE-83FF-09C56A6D6FEE}" srcId="{4C639C60-1ED7-45C7-AC04-77D5F4AD4EF2}" destId="{08CF979B-7A32-4AC5-A84C-28F510C73591}" srcOrd="1" destOrd="0" parTransId="{22892451-8640-4F91-B947-049333217FBD}" sibTransId="{08D4359C-6ACA-4C02-B8B3-38FE6A57DDD0}"/>
    <dgm:cxn modelId="{58C0D68A-7559-47CF-B13D-D6C944BC403B}" type="presOf" srcId="{5847BA37-A5C3-4ABE-948E-181AFA066A78}" destId="{F2C15A5D-A6F8-4436-BE45-5095558E0BDD}" srcOrd="0" destOrd="0" presId="urn:microsoft.com/office/officeart/2018/2/layout/IconVerticalSolidList"/>
    <dgm:cxn modelId="{E8C898A6-B118-4650-9DB5-F0BA72FCD75B}" type="presOf" srcId="{983D59DD-BB26-402A-96B3-95AA4EFFB376}" destId="{0A3CE954-A0E0-4BF9-93FB-722340425720}" srcOrd="0" destOrd="0" presId="urn:microsoft.com/office/officeart/2018/2/layout/IconVerticalSolidList"/>
    <dgm:cxn modelId="{0EBBFDAA-F142-4E46-A8AF-E3D67BE46C70}" srcId="{5BD471EF-77C5-4BC2-9E59-A24810FF1F56}" destId="{983D59DD-BB26-402A-96B3-95AA4EFFB376}" srcOrd="3" destOrd="0" parTransId="{70BF3FAE-05A3-4BAE-AE98-FC97DBEFC8D8}" sibTransId="{11CD30A3-D0BA-40B9-BEAF-7088D7D5ECC6}"/>
    <dgm:cxn modelId="{2D43C5C6-A1D7-4630-8318-16947B863476}" srcId="{5BD471EF-77C5-4BC2-9E59-A24810FF1F56}" destId="{0A09ABA7-102D-4924-BB69-40D425B4674B}" srcOrd="1" destOrd="0" parTransId="{D47A7414-8F5E-4632-BCF8-19A0AA99BB42}" sibTransId="{6CC51C18-3902-4DAF-B1C5-0D830BAFF47C}"/>
    <dgm:cxn modelId="{1B5983E1-3494-4F67-A63C-804484F094E9}" type="presOf" srcId="{34610C35-9F4B-4146-BD49-E187B4FFE115}" destId="{F2C15A5D-A6F8-4436-BE45-5095558E0BDD}" srcOrd="0" destOrd="2" presId="urn:microsoft.com/office/officeart/2018/2/layout/IconVerticalSolidList"/>
    <dgm:cxn modelId="{D42A3AEC-58A5-4E3F-B69A-75F2FC15759C}" type="presOf" srcId="{4C639C60-1ED7-45C7-AC04-77D5F4AD4EF2}" destId="{E276C63C-0735-4844-B719-5F842AC19CC7}" srcOrd="0" destOrd="0" presId="urn:microsoft.com/office/officeart/2018/2/layout/IconVerticalSolidList"/>
    <dgm:cxn modelId="{36F1A3F2-1486-45A3-BABC-835675436243}" type="presOf" srcId="{A3F00695-36A0-4FFA-88D5-15FCA585468E}" destId="{8A141E51-24CD-4771-8D5B-8C9DE070A5BD}" srcOrd="0" destOrd="1" presId="urn:microsoft.com/office/officeart/2018/2/layout/IconVerticalSolidList"/>
    <dgm:cxn modelId="{6B462B8B-79D4-4A4F-AB3A-AA7612B1E5FC}" type="presParOf" srcId="{CE15D2B6-BBEF-4CA0-B7FF-95BD95314FCC}" destId="{5C8D1A64-6992-4D14-B20B-F35D92339B0F}" srcOrd="0" destOrd="0" presId="urn:microsoft.com/office/officeart/2018/2/layout/IconVerticalSolidList"/>
    <dgm:cxn modelId="{ECD0F477-8741-4102-89A0-9DF8523698DD}" type="presParOf" srcId="{5C8D1A64-6992-4D14-B20B-F35D92339B0F}" destId="{C59142EC-4F6E-49A8-843F-D9E31B839347}" srcOrd="0" destOrd="0" presId="urn:microsoft.com/office/officeart/2018/2/layout/IconVerticalSolidList"/>
    <dgm:cxn modelId="{C1F9745F-E706-418B-9D1C-B99AD0A2360E}" type="presParOf" srcId="{5C8D1A64-6992-4D14-B20B-F35D92339B0F}" destId="{C5695ACF-89EC-4B2C-BA32-FEB63109C3AB}" srcOrd="1" destOrd="0" presId="urn:microsoft.com/office/officeart/2018/2/layout/IconVerticalSolidList"/>
    <dgm:cxn modelId="{4EBF9246-7D2E-4414-937D-16D26AA0D6D8}" type="presParOf" srcId="{5C8D1A64-6992-4D14-B20B-F35D92339B0F}" destId="{66BEB79A-6D0A-422E-A873-8A8F744D39CA}" srcOrd="2" destOrd="0" presId="urn:microsoft.com/office/officeart/2018/2/layout/IconVerticalSolidList"/>
    <dgm:cxn modelId="{8F4DD69B-8B58-49CC-9353-EAEBC487CA54}" type="presParOf" srcId="{5C8D1A64-6992-4D14-B20B-F35D92339B0F}" destId="{E903A53E-BBF4-4CA3-BC89-20695374C086}" srcOrd="3" destOrd="0" presId="urn:microsoft.com/office/officeart/2018/2/layout/IconVerticalSolidList"/>
    <dgm:cxn modelId="{00BFAF62-ED32-425F-B244-94213E24AEBD}" type="presParOf" srcId="{CE15D2B6-BBEF-4CA0-B7FF-95BD95314FCC}" destId="{FD447D0A-6FAB-426B-8B45-0E6F6E3F2D9B}" srcOrd="1" destOrd="0" presId="urn:microsoft.com/office/officeart/2018/2/layout/IconVerticalSolidList"/>
    <dgm:cxn modelId="{EF5C7AD5-2AFE-4D4A-974C-1B04F52400F4}" type="presParOf" srcId="{CE15D2B6-BBEF-4CA0-B7FF-95BD95314FCC}" destId="{D297D9D6-CBE4-4F2B-BF4F-FC50AA862921}" srcOrd="2" destOrd="0" presId="urn:microsoft.com/office/officeart/2018/2/layout/IconVerticalSolidList"/>
    <dgm:cxn modelId="{C5C38C87-D3F4-40EE-907C-0E9B40F06B43}" type="presParOf" srcId="{D297D9D6-CBE4-4F2B-BF4F-FC50AA862921}" destId="{CA9B8FDD-E385-42C0-AE61-0BFAFE01DEB1}" srcOrd="0" destOrd="0" presId="urn:microsoft.com/office/officeart/2018/2/layout/IconVerticalSolidList"/>
    <dgm:cxn modelId="{7FA7E418-242F-473E-8B62-EBBDE9D03DE8}" type="presParOf" srcId="{D297D9D6-CBE4-4F2B-BF4F-FC50AA862921}" destId="{15CB2072-7BD5-478E-A4A4-39AE1B4C3472}" srcOrd="1" destOrd="0" presId="urn:microsoft.com/office/officeart/2018/2/layout/IconVerticalSolidList"/>
    <dgm:cxn modelId="{27F47BEB-A281-40FC-9331-CA02AB37AD70}" type="presParOf" srcId="{D297D9D6-CBE4-4F2B-BF4F-FC50AA862921}" destId="{D060CEC0-0AEA-47C6-BD5E-0C7F208C3B71}" srcOrd="2" destOrd="0" presId="urn:microsoft.com/office/officeart/2018/2/layout/IconVerticalSolidList"/>
    <dgm:cxn modelId="{6B9F4802-63AD-4131-AA7D-4BA36791B098}" type="presParOf" srcId="{D297D9D6-CBE4-4F2B-BF4F-FC50AA862921}" destId="{39997479-6786-4A3C-B9A6-45BE8E7CC3AA}" srcOrd="3" destOrd="0" presId="urn:microsoft.com/office/officeart/2018/2/layout/IconVerticalSolidList"/>
    <dgm:cxn modelId="{C4FFC422-43E9-4312-9947-BFD0F823F495}" type="presParOf" srcId="{D297D9D6-CBE4-4F2B-BF4F-FC50AA862921}" destId="{8A141E51-24CD-4771-8D5B-8C9DE070A5BD}" srcOrd="4" destOrd="0" presId="urn:microsoft.com/office/officeart/2018/2/layout/IconVerticalSolidList"/>
    <dgm:cxn modelId="{ADE2325E-8926-4A9F-858C-3BB676554029}" type="presParOf" srcId="{CE15D2B6-BBEF-4CA0-B7FF-95BD95314FCC}" destId="{0BDC95A7-385C-4E26-9273-DB68CC56B4BC}" srcOrd="3" destOrd="0" presId="urn:microsoft.com/office/officeart/2018/2/layout/IconVerticalSolidList"/>
    <dgm:cxn modelId="{A5152919-E40F-4927-8E76-A768165CC8EB}" type="presParOf" srcId="{CE15D2B6-BBEF-4CA0-B7FF-95BD95314FCC}" destId="{51FFCD63-CD97-48A0-87C1-0C85EE2D2EBB}" srcOrd="4" destOrd="0" presId="urn:microsoft.com/office/officeart/2018/2/layout/IconVerticalSolidList"/>
    <dgm:cxn modelId="{213E2173-AC74-4616-98A4-BACBBEA0B1F4}" type="presParOf" srcId="{51FFCD63-CD97-48A0-87C1-0C85EE2D2EBB}" destId="{9897146B-A21D-4FAC-BE72-4AB6E91E159B}" srcOrd="0" destOrd="0" presId="urn:microsoft.com/office/officeart/2018/2/layout/IconVerticalSolidList"/>
    <dgm:cxn modelId="{1C52B586-BC87-462A-8386-275B7F03003A}" type="presParOf" srcId="{51FFCD63-CD97-48A0-87C1-0C85EE2D2EBB}" destId="{DFF76359-F8A6-4384-8F0C-30B65B29EFFA}" srcOrd="1" destOrd="0" presId="urn:microsoft.com/office/officeart/2018/2/layout/IconVerticalSolidList"/>
    <dgm:cxn modelId="{3438EFA4-3D87-4B07-84DD-6089D699EBA7}" type="presParOf" srcId="{51FFCD63-CD97-48A0-87C1-0C85EE2D2EBB}" destId="{B214888E-C6C4-4269-830A-AA04FCBD4D92}" srcOrd="2" destOrd="0" presId="urn:microsoft.com/office/officeart/2018/2/layout/IconVerticalSolidList"/>
    <dgm:cxn modelId="{CD4B7902-5ECC-42E9-BD99-E2F0A9A3824C}" type="presParOf" srcId="{51FFCD63-CD97-48A0-87C1-0C85EE2D2EBB}" destId="{E276C63C-0735-4844-B719-5F842AC19CC7}" srcOrd="3" destOrd="0" presId="urn:microsoft.com/office/officeart/2018/2/layout/IconVerticalSolidList"/>
    <dgm:cxn modelId="{60139D22-B613-471A-A68F-586B330A68EA}" type="presParOf" srcId="{51FFCD63-CD97-48A0-87C1-0C85EE2D2EBB}" destId="{F2C15A5D-A6F8-4436-BE45-5095558E0BDD}" srcOrd="4" destOrd="0" presId="urn:microsoft.com/office/officeart/2018/2/layout/IconVerticalSolidList"/>
    <dgm:cxn modelId="{B715063D-2FE7-4BEA-BC7C-CFBD5372589B}" type="presParOf" srcId="{CE15D2B6-BBEF-4CA0-B7FF-95BD95314FCC}" destId="{98720CD2-460F-46A8-B663-D94AC516C04E}" srcOrd="5" destOrd="0" presId="urn:microsoft.com/office/officeart/2018/2/layout/IconVerticalSolidList"/>
    <dgm:cxn modelId="{E5BB02EA-AEC4-4B05-A1A6-A460CBD42409}" type="presParOf" srcId="{CE15D2B6-BBEF-4CA0-B7FF-95BD95314FCC}" destId="{F0E33339-0BC6-4468-83BA-B62EBDD96EA8}" srcOrd="6" destOrd="0" presId="urn:microsoft.com/office/officeart/2018/2/layout/IconVerticalSolidList"/>
    <dgm:cxn modelId="{95B2EC59-4F29-4A79-9E17-65C1C9294586}" type="presParOf" srcId="{F0E33339-0BC6-4468-83BA-B62EBDD96EA8}" destId="{3C6F5C41-CFC7-482B-9485-04C9BC72784D}" srcOrd="0" destOrd="0" presId="urn:microsoft.com/office/officeart/2018/2/layout/IconVerticalSolidList"/>
    <dgm:cxn modelId="{50FC24E1-80A1-4DFE-98C8-C799C03E73A6}" type="presParOf" srcId="{F0E33339-0BC6-4468-83BA-B62EBDD96EA8}" destId="{2E83FF53-EC11-4AE6-AD3B-3B376D225FD7}" srcOrd="1" destOrd="0" presId="urn:microsoft.com/office/officeart/2018/2/layout/IconVerticalSolidList"/>
    <dgm:cxn modelId="{1AC593A7-C454-4FEA-AAA2-7154149408FD}" type="presParOf" srcId="{F0E33339-0BC6-4468-83BA-B62EBDD96EA8}" destId="{F73E1A61-F243-4C6F-A190-E69AC59A26CF}" srcOrd="2" destOrd="0" presId="urn:microsoft.com/office/officeart/2018/2/layout/IconVerticalSolidList"/>
    <dgm:cxn modelId="{BB7EDE55-D3EA-4861-86BA-5B56BECE1C43}" type="presParOf" srcId="{F0E33339-0BC6-4468-83BA-B62EBDD96EA8}" destId="{0A3CE954-A0E0-4BF9-93FB-7223404257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AC54D7-FC4E-4F9F-B5B4-F170D1A45B3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E02CC8-12E7-4807-993E-035726597D2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Perfil incompleto reduz conversão em TODOS os tipos de cupom</a:t>
          </a:r>
          <a:endParaRPr lang="en-US"/>
        </a:p>
      </dgm:t>
    </dgm:pt>
    <dgm:pt modelId="{8246885E-AF81-404E-932F-FC8E0D67DC96}" type="parTrans" cxnId="{09D17424-1E4A-47F6-B9BA-1A24289932F8}">
      <dgm:prSet/>
      <dgm:spPr/>
      <dgm:t>
        <a:bodyPr/>
        <a:lstStyle/>
        <a:p>
          <a:endParaRPr lang="en-US"/>
        </a:p>
      </dgm:t>
    </dgm:pt>
    <dgm:pt modelId="{AA9B0FAC-6BBE-442F-AF3E-92D13AE5E704}" type="sibTrans" cxnId="{09D17424-1E4A-47F6-B9BA-1A24289932F8}">
      <dgm:prSet/>
      <dgm:spPr/>
      <dgm:t>
        <a:bodyPr/>
        <a:lstStyle/>
        <a:p>
          <a:endParaRPr lang="en-US"/>
        </a:p>
      </dgm:t>
    </dgm:pt>
    <dgm:pt modelId="{C8C832D4-16C4-428B-A5D5-2C20655B75E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Rede social é o canal mais forte para BOGO e Desconto,  mas tem pouco efeito no Informacional</a:t>
          </a:r>
          <a:endParaRPr lang="en-US"/>
        </a:p>
      </dgm:t>
    </dgm:pt>
    <dgm:pt modelId="{DABF505A-607C-4A06-BB45-759256ABF104}" type="parTrans" cxnId="{00ABB183-4524-4404-B1C3-C05500A164A1}">
      <dgm:prSet/>
      <dgm:spPr/>
      <dgm:t>
        <a:bodyPr/>
        <a:lstStyle/>
        <a:p>
          <a:endParaRPr lang="en-US"/>
        </a:p>
      </dgm:t>
    </dgm:pt>
    <dgm:pt modelId="{E7A30F7A-CF4F-4D45-B45E-204BD38A0F47}" type="sibTrans" cxnId="{00ABB183-4524-4404-B1C3-C05500A164A1}">
      <dgm:prSet/>
      <dgm:spPr/>
      <dgm:t>
        <a:bodyPr/>
        <a:lstStyle/>
        <a:p>
          <a:endParaRPr lang="en-US"/>
        </a:p>
      </dgm:t>
    </dgm:pt>
    <dgm:pt modelId="{639FE8A3-6353-40AC-90D7-D703C3FE0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Duração do cupom tem efeito OPOSTO entre os tipos: </a:t>
          </a:r>
          <a:endParaRPr lang="en-US"/>
        </a:p>
      </dgm:t>
    </dgm:pt>
    <dgm:pt modelId="{C24FD885-4152-441F-9B73-F482F785C179}" type="parTrans" cxnId="{9E10E9ED-6640-4946-8634-92A5E66F2F3D}">
      <dgm:prSet/>
      <dgm:spPr/>
      <dgm:t>
        <a:bodyPr/>
        <a:lstStyle/>
        <a:p>
          <a:endParaRPr lang="en-US"/>
        </a:p>
      </dgm:t>
    </dgm:pt>
    <dgm:pt modelId="{87F7F63F-F075-4695-964D-84FA32A2C992}" type="sibTrans" cxnId="{9E10E9ED-6640-4946-8634-92A5E66F2F3D}">
      <dgm:prSet/>
      <dgm:spPr/>
      <dgm:t>
        <a:bodyPr/>
        <a:lstStyle/>
        <a:p>
          <a:endParaRPr lang="en-US"/>
        </a:p>
      </dgm:t>
    </dgm:pt>
    <dgm:pt modelId="{07232290-89BA-4E5E-B5F7-84B1BC33ED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BOGO/Desconto: cupons mais longos convertem mais </a:t>
          </a:r>
          <a:endParaRPr lang="en-US" dirty="0"/>
        </a:p>
      </dgm:t>
    </dgm:pt>
    <dgm:pt modelId="{F1C55484-5B0B-486F-BA6A-5BC9B7EA6724}" type="parTrans" cxnId="{D6A10360-765F-4475-9654-6B302D216618}">
      <dgm:prSet/>
      <dgm:spPr/>
      <dgm:t>
        <a:bodyPr/>
        <a:lstStyle/>
        <a:p>
          <a:endParaRPr lang="en-US"/>
        </a:p>
      </dgm:t>
    </dgm:pt>
    <dgm:pt modelId="{4C822AA7-97FC-464D-A2CA-7DF1F5123FCF}" type="sibTrans" cxnId="{D6A10360-765F-4475-9654-6B302D216618}">
      <dgm:prSet/>
      <dgm:spPr/>
      <dgm:t>
        <a:bodyPr/>
        <a:lstStyle/>
        <a:p>
          <a:endParaRPr lang="en-US"/>
        </a:p>
      </dgm:t>
    </dgm:pt>
    <dgm:pt modelId="{F4938333-B121-42E1-ABCC-359545D9480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Informacional: cupons mais curtos convertem mais </a:t>
          </a:r>
          <a:endParaRPr lang="en-US" dirty="0"/>
        </a:p>
      </dgm:t>
    </dgm:pt>
    <dgm:pt modelId="{2FA5CDF6-367B-40A5-8AF1-A32153EFFFC3}" type="parTrans" cxnId="{042410EC-2B08-439A-8FA1-253B207C907E}">
      <dgm:prSet/>
      <dgm:spPr/>
      <dgm:t>
        <a:bodyPr/>
        <a:lstStyle/>
        <a:p>
          <a:endParaRPr lang="en-US"/>
        </a:p>
      </dgm:t>
    </dgm:pt>
    <dgm:pt modelId="{1BD7F455-01D0-4064-BBC7-71FDF1F6D7D3}" type="sibTrans" cxnId="{042410EC-2B08-439A-8FA1-253B207C907E}">
      <dgm:prSet/>
      <dgm:spPr/>
      <dgm:t>
        <a:bodyPr/>
        <a:lstStyle/>
        <a:p>
          <a:endParaRPr lang="en-US"/>
        </a:p>
      </dgm:t>
    </dgm:pt>
    <dgm:pt modelId="{1F41F2C5-E773-48CB-B1FB-B749EDB72F0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Limite de cartão de crédito também se comporta de forma oposta: </a:t>
          </a:r>
          <a:endParaRPr lang="en-US"/>
        </a:p>
      </dgm:t>
    </dgm:pt>
    <dgm:pt modelId="{8A5D240E-D141-47C7-8C57-75A66A57A3BB}" type="parTrans" cxnId="{AA7274F6-ECBB-4CC0-9B76-670BCEA4D82C}">
      <dgm:prSet/>
      <dgm:spPr/>
      <dgm:t>
        <a:bodyPr/>
        <a:lstStyle/>
        <a:p>
          <a:endParaRPr lang="en-US"/>
        </a:p>
      </dgm:t>
    </dgm:pt>
    <dgm:pt modelId="{5E7B49C7-876F-4626-8539-B119976587BF}" type="sibTrans" cxnId="{AA7274F6-ECBB-4CC0-9B76-670BCEA4D82C}">
      <dgm:prSet/>
      <dgm:spPr/>
      <dgm:t>
        <a:bodyPr/>
        <a:lstStyle/>
        <a:p>
          <a:endParaRPr lang="en-US"/>
        </a:p>
      </dgm:t>
    </dgm:pt>
    <dgm:pt modelId="{4CE132F9-0250-435B-9159-0DCDE73D8C8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BOGO/Desconto: quanto maior o limite, maior a conversão </a:t>
          </a:r>
          <a:endParaRPr lang="en-US"/>
        </a:p>
      </dgm:t>
    </dgm:pt>
    <dgm:pt modelId="{AF662F7B-1EFC-445A-9487-D443D228730B}" type="parTrans" cxnId="{F1D40D62-074B-4681-90ED-115460366289}">
      <dgm:prSet/>
      <dgm:spPr/>
      <dgm:t>
        <a:bodyPr/>
        <a:lstStyle/>
        <a:p>
          <a:endParaRPr lang="en-US"/>
        </a:p>
      </dgm:t>
    </dgm:pt>
    <dgm:pt modelId="{0FF80981-88D1-48EB-A6E7-4420C8E89035}" type="sibTrans" cxnId="{F1D40D62-074B-4681-90ED-115460366289}">
      <dgm:prSet/>
      <dgm:spPr/>
      <dgm:t>
        <a:bodyPr/>
        <a:lstStyle/>
        <a:p>
          <a:endParaRPr lang="en-US"/>
        </a:p>
      </dgm:t>
    </dgm:pt>
    <dgm:pt modelId="{C8F9A570-5A6D-4A5B-B70C-BB7A5D713F5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Informacional: quanto maior o limite, menor a conversão  </a:t>
          </a:r>
          <a:endParaRPr lang="en-US"/>
        </a:p>
      </dgm:t>
    </dgm:pt>
    <dgm:pt modelId="{31505FE6-96D1-4AC8-A364-AB5ABBE2E682}" type="parTrans" cxnId="{F0CC3231-F43F-4C31-926C-15AF65485AE0}">
      <dgm:prSet/>
      <dgm:spPr/>
      <dgm:t>
        <a:bodyPr/>
        <a:lstStyle/>
        <a:p>
          <a:endParaRPr lang="en-US"/>
        </a:p>
      </dgm:t>
    </dgm:pt>
    <dgm:pt modelId="{0663FE29-1DB9-462B-B7F1-C4CF5B8727D2}" type="sibTrans" cxnId="{F0CC3231-F43F-4C31-926C-15AF65485AE0}">
      <dgm:prSet/>
      <dgm:spPr/>
      <dgm:t>
        <a:bodyPr/>
        <a:lstStyle/>
        <a:p>
          <a:endParaRPr lang="en-US"/>
        </a:p>
      </dgm:t>
    </dgm:pt>
    <dgm:pt modelId="{0A894E00-26B6-4278-8E97-194E8FA7A32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BOGO é o tipo mais difícil de prever -&gt; fatores fora do </a:t>
          </a:r>
          <a:r>
            <a:rPr lang="pt-BR" dirty="0" err="1"/>
            <a:t>dataset</a:t>
          </a:r>
          <a:r>
            <a:rPr lang="pt-BR" dirty="0"/>
            <a:t> atual podem ter mais peso que o perfil do cliente</a:t>
          </a:r>
          <a:endParaRPr lang="en-US" dirty="0"/>
        </a:p>
      </dgm:t>
    </dgm:pt>
    <dgm:pt modelId="{737DE9C1-3F55-4F64-8DDD-83329A0008C4}" type="parTrans" cxnId="{E8BD1D7F-6BF8-486F-9B58-3C578130415C}">
      <dgm:prSet/>
      <dgm:spPr/>
      <dgm:t>
        <a:bodyPr/>
        <a:lstStyle/>
        <a:p>
          <a:endParaRPr lang="en-US"/>
        </a:p>
      </dgm:t>
    </dgm:pt>
    <dgm:pt modelId="{DB6A35AF-5E53-4AA9-9F11-7397EEBC09B2}" type="sibTrans" cxnId="{E8BD1D7F-6BF8-486F-9B58-3C578130415C}">
      <dgm:prSet/>
      <dgm:spPr/>
      <dgm:t>
        <a:bodyPr/>
        <a:lstStyle/>
        <a:p>
          <a:endParaRPr lang="en-US"/>
        </a:p>
      </dgm:t>
    </dgm:pt>
    <dgm:pt modelId="{0CF14370-CC17-44FB-AD9D-897A23FB6B71}" type="pres">
      <dgm:prSet presAssocID="{BCAC54D7-FC4E-4F9F-B5B4-F170D1A45B32}" presName="root" presStyleCnt="0">
        <dgm:presLayoutVars>
          <dgm:dir/>
          <dgm:resizeHandles val="exact"/>
        </dgm:presLayoutVars>
      </dgm:prSet>
      <dgm:spPr/>
    </dgm:pt>
    <dgm:pt modelId="{1BC6E54D-7A7F-4F7E-9947-163A5FE1A4A9}" type="pres">
      <dgm:prSet presAssocID="{48E02CC8-12E7-4807-993E-035726597D22}" presName="compNode" presStyleCnt="0"/>
      <dgm:spPr/>
    </dgm:pt>
    <dgm:pt modelId="{56A3E40B-D38F-4FB0-94D3-E79F0B4C7C4D}" type="pres">
      <dgm:prSet presAssocID="{48E02CC8-12E7-4807-993E-035726597D22}" presName="bgRect" presStyleLbl="bgShp" presStyleIdx="0" presStyleCnt="5"/>
      <dgm:spPr/>
    </dgm:pt>
    <dgm:pt modelId="{D4D3D9D9-C272-46E0-A6E5-8596DAC99A06}" type="pres">
      <dgm:prSet presAssocID="{48E02CC8-12E7-4807-993E-035726597D2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B1AB47CB-67EB-4D72-92DD-3F0C28CE3242}" type="pres">
      <dgm:prSet presAssocID="{48E02CC8-12E7-4807-993E-035726597D22}" presName="spaceRect" presStyleCnt="0"/>
      <dgm:spPr/>
    </dgm:pt>
    <dgm:pt modelId="{D2E1DFB0-EC6C-4F9F-8AC1-1D02B8955816}" type="pres">
      <dgm:prSet presAssocID="{48E02CC8-12E7-4807-993E-035726597D22}" presName="parTx" presStyleLbl="revTx" presStyleIdx="0" presStyleCnt="7">
        <dgm:presLayoutVars>
          <dgm:chMax val="0"/>
          <dgm:chPref val="0"/>
        </dgm:presLayoutVars>
      </dgm:prSet>
      <dgm:spPr/>
    </dgm:pt>
    <dgm:pt modelId="{9EC0BBC8-9942-46E3-A7D7-EE799DBC1ED3}" type="pres">
      <dgm:prSet presAssocID="{AA9B0FAC-6BBE-442F-AF3E-92D13AE5E704}" presName="sibTrans" presStyleCnt="0"/>
      <dgm:spPr/>
    </dgm:pt>
    <dgm:pt modelId="{CFAAAE63-999F-474A-9797-C623D1B44874}" type="pres">
      <dgm:prSet presAssocID="{C8C832D4-16C4-428B-A5D5-2C20655B75EC}" presName="compNode" presStyleCnt="0"/>
      <dgm:spPr/>
    </dgm:pt>
    <dgm:pt modelId="{B8224900-C739-4B93-B4AC-70155A01B9C8}" type="pres">
      <dgm:prSet presAssocID="{C8C832D4-16C4-428B-A5D5-2C20655B75EC}" presName="bgRect" presStyleLbl="bgShp" presStyleIdx="1" presStyleCnt="5"/>
      <dgm:spPr/>
    </dgm:pt>
    <dgm:pt modelId="{DF87C8E8-61A3-49BD-B621-12C2A8506EA2}" type="pres">
      <dgm:prSet presAssocID="{C8C832D4-16C4-428B-A5D5-2C20655B75E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5FD83AD-6494-49CA-AE50-61B0588BFD40}" type="pres">
      <dgm:prSet presAssocID="{C8C832D4-16C4-428B-A5D5-2C20655B75EC}" presName="spaceRect" presStyleCnt="0"/>
      <dgm:spPr/>
    </dgm:pt>
    <dgm:pt modelId="{5C07B6D9-FC08-409F-A98F-BF9A4AFA0C71}" type="pres">
      <dgm:prSet presAssocID="{C8C832D4-16C4-428B-A5D5-2C20655B75EC}" presName="parTx" presStyleLbl="revTx" presStyleIdx="1" presStyleCnt="7">
        <dgm:presLayoutVars>
          <dgm:chMax val="0"/>
          <dgm:chPref val="0"/>
        </dgm:presLayoutVars>
      </dgm:prSet>
      <dgm:spPr/>
    </dgm:pt>
    <dgm:pt modelId="{E9EF670B-D0DE-4D71-AF51-1ED81E027DCE}" type="pres">
      <dgm:prSet presAssocID="{E7A30F7A-CF4F-4D45-B45E-204BD38A0F47}" presName="sibTrans" presStyleCnt="0"/>
      <dgm:spPr/>
    </dgm:pt>
    <dgm:pt modelId="{CC3988E5-54D4-4579-B4E6-49E070296384}" type="pres">
      <dgm:prSet presAssocID="{639FE8A3-6353-40AC-90D7-D703C3FE04DE}" presName="compNode" presStyleCnt="0"/>
      <dgm:spPr/>
    </dgm:pt>
    <dgm:pt modelId="{13EF8E5D-9C0E-4F39-88E0-A5F86C052824}" type="pres">
      <dgm:prSet presAssocID="{639FE8A3-6353-40AC-90D7-D703C3FE04DE}" presName="bgRect" presStyleLbl="bgShp" presStyleIdx="2" presStyleCnt="5"/>
      <dgm:spPr/>
    </dgm:pt>
    <dgm:pt modelId="{DB5D92DA-4937-47E2-BC29-A295AD6E1018}" type="pres">
      <dgm:prSet presAssocID="{639FE8A3-6353-40AC-90D7-D703C3FE04D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8495D938-4581-4551-905A-69925B3A1F13}" type="pres">
      <dgm:prSet presAssocID="{639FE8A3-6353-40AC-90D7-D703C3FE04DE}" presName="spaceRect" presStyleCnt="0"/>
      <dgm:spPr/>
    </dgm:pt>
    <dgm:pt modelId="{E8BAC861-C39F-459D-8598-33C37927A477}" type="pres">
      <dgm:prSet presAssocID="{639FE8A3-6353-40AC-90D7-D703C3FE04DE}" presName="parTx" presStyleLbl="revTx" presStyleIdx="2" presStyleCnt="7">
        <dgm:presLayoutVars>
          <dgm:chMax val="0"/>
          <dgm:chPref val="0"/>
        </dgm:presLayoutVars>
      </dgm:prSet>
      <dgm:spPr/>
    </dgm:pt>
    <dgm:pt modelId="{8EAE8D1D-65BB-40CA-85EC-A9E239D2E874}" type="pres">
      <dgm:prSet presAssocID="{639FE8A3-6353-40AC-90D7-D703C3FE04DE}" presName="desTx" presStyleLbl="revTx" presStyleIdx="3" presStyleCnt="7">
        <dgm:presLayoutVars/>
      </dgm:prSet>
      <dgm:spPr/>
    </dgm:pt>
    <dgm:pt modelId="{3385D2BD-3A66-40FC-97F3-A1E00F34E0EA}" type="pres">
      <dgm:prSet presAssocID="{87F7F63F-F075-4695-964D-84FA32A2C992}" presName="sibTrans" presStyleCnt="0"/>
      <dgm:spPr/>
    </dgm:pt>
    <dgm:pt modelId="{BDFD2B5E-16B6-463F-820E-0F858A76BF30}" type="pres">
      <dgm:prSet presAssocID="{1F41F2C5-E773-48CB-B1FB-B749EDB72F08}" presName="compNode" presStyleCnt="0"/>
      <dgm:spPr/>
    </dgm:pt>
    <dgm:pt modelId="{658E7918-2039-449B-A51D-29CE0EE20636}" type="pres">
      <dgm:prSet presAssocID="{1F41F2C5-E773-48CB-B1FB-B749EDB72F08}" presName="bgRect" presStyleLbl="bgShp" presStyleIdx="3" presStyleCnt="5"/>
      <dgm:spPr/>
    </dgm:pt>
    <dgm:pt modelId="{B67A05A7-6EF4-4E0E-8F55-175BECB2FE6E}" type="pres">
      <dgm:prSet presAssocID="{1F41F2C5-E773-48CB-B1FB-B749EDB72F0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co"/>
        </a:ext>
      </dgm:extLst>
    </dgm:pt>
    <dgm:pt modelId="{F84459AB-38A2-4312-AE9D-6465A6162EF3}" type="pres">
      <dgm:prSet presAssocID="{1F41F2C5-E773-48CB-B1FB-B749EDB72F08}" presName="spaceRect" presStyleCnt="0"/>
      <dgm:spPr/>
    </dgm:pt>
    <dgm:pt modelId="{F6D4FD6C-B3BC-456E-A32E-ADB3D02EFAB7}" type="pres">
      <dgm:prSet presAssocID="{1F41F2C5-E773-48CB-B1FB-B749EDB72F08}" presName="parTx" presStyleLbl="revTx" presStyleIdx="4" presStyleCnt="7">
        <dgm:presLayoutVars>
          <dgm:chMax val="0"/>
          <dgm:chPref val="0"/>
        </dgm:presLayoutVars>
      </dgm:prSet>
      <dgm:spPr/>
    </dgm:pt>
    <dgm:pt modelId="{543F658A-D7B1-427F-A580-5636853B4710}" type="pres">
      <dgm:prSet presAssocID="{1F41F2C5-E773-48CB-B1FB-B749EDB72F08}" presName="desTx" presStyleLbl="revTx" presStyleIdx="5" presStyleCnt="7">
        <dgm:presLayoutVars/>
      </dgm:prSet>
      <dgm:spPr/>
    </dgm:pt>
    <dgm:pt modelId="{B044B19F-47D5-405E-9C10-7F874415F530}" type="pres">
      <dgm:prSet presAssocID="{5E7B49C7-876F-4626-8539-B119976587BF}" presName="sibTrans" presStyleCnt="0"/>
      <dgm:spPr/>
    </dgm:pt>
    <dgm:pt modelId="{9EA29FE1-D517-41B3-B77B-4B506CE05AA6}" type="pres">
      <dgm:prSet presAssocID="{0A894E00-26B6-4278-8E97-194E8FA7A328}" presName="compNode" presStyleCnt="0"/>
      <dgm:spPr/>
    </dgm:pt>
    <dgm:pt modelId="{28C8C15D-A9FB-447F-B0E3-9540C2FAB6AE}" type="pres">
      <dgm:prSet presAssocID="{0A894E00-26B6-4278-8E97-194E8FA7A328}" presName="bgRect" presStyleLbl="bgShp" presStyleIdx="4" presStyleCnt="5"/>
      <dgm:spPr/>
    </dgm:pt>
    <dgm:pt modelId="{8CF205A8-D4C0-4ED1-BABF-AB2AD8C82249}" type="pres">
      <dgm:prSet presAssocID="{0A894E00-26B6-4278-8E97-194E8FA7A32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A180B453-1353-4A9E-8036-7971E0A032C6}" type="pres">
      <dgm:prSet presAssocID="{0A894E00-26B6-4278-8E97-194E8FA7A328}" presName="spaceRect" presStyleCnt="0"/>
      <dgm:spPr/>
    </dgm:pt>
    <dgm:pt modelId="{A21B9F9B-2B83-4E0C-AB3C-40EB3CA17F62}" type="pres">
      <dgm:prSet presAssocID="{0A894E00-26B6-4278-8E97-194E8FA7A32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C727610-A637-4A99-BB4E-3A784B0D2A81}" type="presOf" srcId="{0A894E00-26B6-4278-8E97-194E8FA7A328}" destId="{A21B9F9B-2B83-4E0C-AB3C-40EB3CA17F62}" srcOrd="0" destOrd="0" presId="urn:microsoft.com/office/officeart/2018/2/layout/IconVerticalSolidList"/>
    <dgm:cxn modelId="{52B9781E-BB9F-4611-AAF0-A3068CE2F446}" type="presOf" srcId="{F4938333-B121-42E1-ABCC-359545D9480C}" destId="{8EAE8D1D-65BB-40CA-85EC-A9E239D2E874}" srcOrd="0" destOrd="1" presId="urn:microsoft.com/office/officeart/2018/2/layout/IconVerticalSolidList"/>
    <dgm:cxn modelId="{09D17424-1E4A-47F6-B9BA-1A24289932F8}" srcId="{BCAC54D7-FC4E-4F9F-B5B4-F170D1A45B32}" destId="{48E02CC8-12E7-4807-993E-035726597D22}" srcOrd="0" destOrd="0" parTransId="{8246885E-AF81-404E-932F-FC8E0D67DC96}" sibTransId="{AA9B0FAC-6BBE-442F-AF3E-92D13AE5E704}"/>
    <dgm:cxn modelId="{F0CC3231-F43F-4C31-926C-15AF65485AE0}" srcId="{1F41F2C5-E773-48CB-B1FB-B749EDB72F08}" destId="{C8F9A570-5A6D-4A5B-B70C-BB7A5D713F58}" srcOrd="1" destOrd="0" parTransId="{31505FE6-96D1-4AC8-A364-AB5ABBE2E682}" sibTransId="{0663FE29-1DB9-462B-B7F1-C4CF5B8727D2}"/>
    <dgm:cxn modelId="{D6A10360-765F-4475-9654-6B302D216618}" srcId="{639FE8A3-6353-40AC-90D7-D703C3FE04DE}" destId="{07232290-89BA-4E5E-B5F7-84B1BC33EDFA}" srcOrd="0" destOrd="0" parTransId="{F1C55484-5B0B-486F-BA6A-5BC9B7EA6724}" sibTransId="{4C822AA7-97FC-464D-A2CA-7DF1F5123FCF}"/>
    <dgm:cxn modelId="{F1D40D62-074B-4681-90ED-115460366289}" srcId="{1F41F2C5-E773-48CB-B1FB-B749EDB72F08}" destId="{4CE132F9-0250-435B-9159-0DCDE73D8C88}" srcOrd="0" destOrd="0" parTransId="{AF662F7B-1EFC-445A-9487-D443D228730B}" sibTransId="{0FF80981-88D1-48EB-A6E7-4420C8E89035}"/>
    <dgm:cxn modelId="{358AAA68-5F34-41ED-B858-F8F719525DAF}" type="presOf" srcId="{1F41F2C5-E773-48CB-B1FB-B749EDB72F08}" destId="{F6D4FD6C-B3BC-456E-A32E-ADB3D02EFAB7}" srcOrd="0" destOrd="0" presId="urn:microsoft.com/office/officeart/2018/2/layout/IconVerticalSolidList"/>
    <dgm:cxn modelId="{B76F806E-401C-4859-9281-60A2E4635180}" type="presOf" srcId="{BCAC54D7-FC4E-4F9F-B5B4-F170D1A45B32}" destId="{0CF14370-CC17-44FB-AD9D-897A23FB6B71}" srcOrd="0" destOrd="0" presId="urn:microsoft.com/office/officeart/2018/2/layout/IconVerticalSolidList"/>
    <dgm:cxn modelId="{4D36CC52-AEE5-40BB-A2B0-C8524F9F7BF5}" type="presOf" srcId="{48E02CC8-12E7-4807-993E-035726597D22}" destId="{D2E1DFB0-EC6C-4F9F-8AC1-1D02B8955816}" srcOrd="0" destOrd="0" presId="urn:microsoft.com/office/officeart/2018/2/layout/IconVerticalSolidList"/>
    <dgm:cxn modelId="{CFA9F575-37A6-42BE-B9DE-AD861520F475}" type="presOf" srcId="{4CE132F9-0250-435B-9159-0DCDE73D8C88}" destId="{543F658A-D7B1-427F-A580-5636853B4710}" srcOrd="0" destOrd="0" presId="urn:microsoft.com/office/officeart/2018/2/layout/IconVerticalSolidList"/>
    <dgm:cxn modelId="{E8BD1D7F-6BF8-486F-9B58-3C578130415C}" srcId="{BCAC54D7-FC4E-4F9F-B5B4-F170D1A45B32}" destId="{0A894E00-26B6-4278-8E97-194E8FA7A328}" srcOrd="4" destOrd="0" parTransId="{737DE9C1-3F55-4F64-8DDD-83329A0008C4}" sibTransId="{DB6A35AF-5E53-4AA9-9F11-7397EEBC09B2}"/>
    <dgm:cxn modelId="{00ABB183-4524-4404-B1C3-C05500A164A1}" srcId="{BCAC54D7-FC4E-4F9F-B5B4-F170D1A45B32}" destId="{C8C832D4-16C4-428B-A5D5-2C20655B75EC}" srcOrd="1" destOrd="0" parTransId="{DABF505A-607C-4A06-BB45-759256ABF104}" sibTransId="{E7A30F7A-CF4F-4D45-B45E-204BD38A0F47}"/>
    <dgm:cxn modelId="{680027A4-56A1-42EF-8100-417341CA73CC}" type="presOf" srcId="{C8F9A570-5A6D-4A5B-B70C-BB7A5D713F58}" destId="{543F658A-D7B1-427F-A580-5636853B4710}" srcOrd="0" destOrd="1" presId="urn:microsoft.com/office/officeart/2018/2/layout/IconVerticalSolidList"/>
    <dgm:cxn modelId="{2680ABAA-FFBA-4CA7-A18E-C31E9D5F4734}" type="presOf" srcId="{C8C832D4-16C4-428B-A5D5-2C20655B75EC}" destId="{5C07B6D9-FC08-409F-A98F-BF9A4AFA0C71}" srcOrd="0" destOrd="0" presId="urn:microsoft.com/office/officeart/2018/2/layout/IconVerticalSolidList"/>
    <dgm:cxn modelId="{5264EFDC-6C13-4062-B429-834AE147AA81}" type="presOf" srcId="{639FE8A3-6353-40AC-90D7-D703C3FE04DE}" destId="{E8BAC861-C39F-459D-8598-33C37927A477}" srcOrd="0" destOrd="0" presId="urn:microsoft.com/office/officeart/2018/2/layout/IconVerticalSolidList"/>
    <dgm:cxn modelId="{0EAC20E6-0BCB-4691-8997-59B042975280}" type="presOf" srcId="{07232290-89BA-4E5E-B5F7-84B1BC33EDFA}" destId="{8EAE8D1D-65BB-40CA-85EC-A9E239D2E874}" srcOrd="0" destOrd="0" presId="urn:microsoft.com/office/officeart/2018/2/layout/IconVerticalSolidList"/>
    <dgm:cxn modelId="{042410EC-2B08-439A-8FA1-253B207C907E}" srcId="{639FE8A3-6353-40AC-90D7-D703C3FE04DE}" destId="{F4938333-B121-42E1-ABCC-359545D9480C}" srcOrd="1" destOrd="0" parTransId="{2FA5CDF6-367B-40A5-8AF1-A32153EFFFC3}" sibTransId="{1BD7F455-01D0-4064-BBC7-71FDF1F6D7D3}"/>
    <dgm:cxn modelId="{9E10E9ED-6640-4946-8634-92A5E66F2F3D}" srcId="{BCAC54D7-FC4E-4F9F-B5B4-F170D1A45B32}" destId="{639FE8A3-6353-40AC-90D7-D703C3FE04DE}" srcOrd="2" destOrd="0" parTransId="{C24FD885-4152-441F-9B73-F482F785C179}" sibTransId="{87F7F63F-F075-4695-964D-84FA32A2C992}"/>
    <dgm:cxn modelId="{AA7274F6-ECBB-4CC0-9B76-670BCEA4D82C}" srcId="{BCAC54D7-FC4E-4F9F-B5B4-F170D1A45B32}" destId="{1F41F2C5-E773-48CB-B1FB-B749EDB72F08}" srcOrd="3" destOrd="0" parTransId="{8A5D240E-D141-47C7-8C57-75A66A57A3BB}" sibTransId="{5E7B49C7-876F-4626-8539-B119976587BF}"/>
    <dgm:cxn modelId="{79F29348-894C-46DD-9927-C005BE1BE5D4}" type="presParOf" srcId="{0CF14370-CC17-44FB-AD9D-897A23FB6B71}" destId="{1BC6E54D-7A7F-4F7E-9947-163A5FE1A4A9}" srcOrd="0" destOrd="0" presId="urn:microsoft.com/office/officeart/2018/2/layout/IconVerticalSolidList"/>
    <dgm:cxn modelId="{00481093-B5C5-4010-B521-CDCF91503099}" type="presParOf" srcId="{1BC6E54D-7A7F-4F7E-9947-163A5FE1A4A9}" destId="{56A3E40B-D38F-4FB0-94D3-E79F0B4C7C4D}" srcOrd="0" destOrd="0" presId="urn:microsoft.com/office/officeart/2018/2/layout/IconVerticalSolidList"/>
    <dgm:cxn modelId="{33EEF62D-C7A1-453F-84F6-83D73C759379}" type="presParOf" srcId="{1BC6E54D-7A7F-4F7E-9947-163A5FE1A4A9}" destId="{D4D3D9D9-C272-46E0-A6E5-8596DAC99A06}" srcOrd="1" destOrd="0" presId="urn:microsoft.com/office/officeart/2018/2/layout/IconVerticalSolidList"/>
    <dgm:cxn modelId="{0EEB9957-1185-4E58-B198-83CB4C626169}" type="presParOf" srcId="{1BC6E54D-7A7F-4F7E-9947-163A5FE1A4A9}" destId="{B1AB47CB-67EB-4D72-92DD-3F0C28CE3242}" srcOrd="2" destOrd="0" presId="urn:microsoft.com/office/officeart/2018/2/layout/IconVerticalSolidList"/>
    <dgm:cxn modelId="{0F1480C0-2942-40A9-8E37-29460F8624B5}" type="presParOf" srcId="{1BC6E54D-7A7F-4F7E-9947-163A5FE1A4A9}" destId="{D2E1DFB0-EC6C-4F9F-8AC1-1D02B8955816}" srcOrd="3" destOrd="0" presId="urn:microsoft.com/office/officeart/2018/2/layout/IconVerticalSolidList"/>
    <dgm:cxn modelId="{31834B15-DE9B-4CC4-8837-BB913A635A7E}" type="presParOf" srcId="{0CF14370-CC17-44FB-AD9D-897A23FB6B71}" destId="{9EC0BBC8-9942-46E3-A7D7-EE799DBC1ED3}" srcOrd="1" destOrd="0" presId="urn:microsoft.com/office/officeart/2018/2/layout/IconVerticalSolidList"/>
    <dgm:cxn modelId="{53F4200D-54EB-4D54-BB29-1972900BA923}" type="presParOf" srcId="{0CF14370-CC17-44FB-AD9D-897A23FB6B71}" destId="{CFAAAE63-999F-474A-9797-C623D1B44874}" srcOrd="2" destOrd="0" presId="urn:microsoft.com/office/officeart/2018/2/layout/IconVerticalSolidList"/>
    <dgm:cxn modelId="{431F6C7B-EBB4-4C42-A08B-DB91CC0A79B3}" type="presParOf" srcId="{CFAAAE63-999F-474A-9797-C623D1B44874}" destId="{B8224900-C739-4B93-B4AC-70155A01B9C8}" srcOrd="0" destOrd="0" presId="urn:microsoft.com/office/officeart/2018/2/layout/IconVerticalSolidList"/>
    <dgm:cxn modelId="{AAD76490-B850-4816-9219-2A5A5745B8D4}" type="presParOf" srcId="{CFAAAE63-999F-474A-9797-C623D1B44874}" destId="{DF87C8E8-61A3-49BD-B621-12C2A8506EA2}" srcOrd="1" destOrd="0" presId="urn:microsoft.com/office/officeart/2018/2/layout/IconVerticalSolidList"/>
    <dgm:cxn modelId="{170061D5-7FA6-4DF6-ABC2-0A34EA1FD35D}" type="presParOf" srcId="{CFAAAE63-999F-474A-9797-C623D1B44874}" destId="{D5FD83AD-6494-49CA-AE50-61B0588BFD40}" srcOrd="2" destOrd="0" presId="urn:microsoft.com/office/officeart/2018/2/layout/IconVerticalSolidList"/>
    <dgm:cxn modelId="{06C2CEDA-3309-46F4-83BE-AEAD6A5D747B}" type="presParOf" srcId="{CFAAAE63-999F-474A-9797-C623D1B44874}" destId="{5C07B6D9-FC08-409F-A98F-BF9A4AFA0C71}" srcOrd="3" destOrd="0" presId="urn:microsoft.com/office/officeart/2018/2/layout/IconVerticalSolidList"/>
    <dgm:cxn modelId="{DD213591-D27B-427C-8258-B7B954D911E0}" type="presParOf" srcId="{0CF14370-CC17-44FB-AD9D-897A23FB6B71}" destId="{E9EF670B-D0DE-4D71-AF51-1ED81E027DCE}" srcOrd="3" destOrd="0" presId="urn:microsoft.com/office/officeart/2018/2/layout/IconVerticalSolidList"/>
    <dgm:cxn modelId="{18E0B161-51CB-4603-93E5-8E151CA70FE7}" type="presParOf" srcId="{0CF14370-CC17-44FB-AD9D-897A23FB6B71}" destId="{CC3988E5-54D4-4579-B4E6-49E070296384}" srcOrd="4" destOrd="0" presId="urn:microsoft.com/office/officeart/2018/2/layout/IconVerticalSolidList"/>
    <dgm:cxn modelId="{CA949913-E023-4257-811C-10F987757201}" type="presParOf" srcId="{CC3988E5-54D4-4579-B4E6-49E070296384}" destId="{13EF8E5D-9C0E-4F39-88E0-A5F86C052824}" srcOrd="0" destOrd="0" presId="urn:microsoft.com/office/officeart/2018/2/layout/IconVerticalSolidList"/>
    <dgm:cxn modelId="{712E20AA-DBAD-411F-B185-DC1AD554E8C6}" type="presParOf" srcId="{CC3988E5-54D4-4579-B4E6-49E070296384}" destId="{DB5D92DA-4937-47E2-BC29-A295AD6E1018}" srcOrd="1" destOrd="0" presId="urn:microsoft.com/office/officeart/2018/2/layout/IconVerticalSolidList"/>
    <dgm:cxn modelId="{BE35461D-4D66-43D6-AE6A-07E66661F731}" type="presParOf" srcId="{CC3988E5-54D4-4579-B4E6-49E070296384}" destId="{8495D938-4581-4551-905A-69925B3A1F13}" srcOrd="2" destOrd="0" presId="urn:microsoft.com/office/officeart/2018/2/layout/IconVerticalSolidList"/>
    <dgm:cxn modelId="{BA18992F-094C-4EE5-B012-6C73ECA14B4F}" type="presParOf" srcId="{CC3988E5-54D4-4579-B4E6-49E070296384}" destId="{E8BAC861-C39F-459D-8598-33C37927A477}" srcOrd="3" destOrd="0" presId="urn:microsoft.com/office/officeart/2018/2/layout/IconVerticalSolidList"/>
    <dgm:cxn modelId="{3DDB8567-1343-4C99-BB19-E724F93E4C47}" type="presParOf" srcId="{CC3988E5-54D4-4579-B4E6-49E070296384}" destId="{8EAE8D1D-65BB-40CA-85EC-A9E239D2E874}" srcOrd="4" destOrd="0" presId="urn:microsoft.com/office/officeart/2018/2/layout/IconVerticalSolidList"/>
    <dgm:cxn modelId="{814988F9-5A8A-4A38-9CD5-5482CC9CA8EF}" type="presParOf" srcId="{0CF14370-CC17-44FB-AD9D-897A23FB6B71}" destId="{3385D2BD-3A66-40FC-97F3-A1E00F34E0EA}" srcOrd="5" destOrd="0" presId="urn:microsoft.com/office/officeart/2018/2/layout/IconVerticalSolidList"/>
    <dgm:cxn modelId="{93A2D1FE-8242-4119-AA8B-D992E32A80FB}" type="presParOf" srcId="{0CF14370-CC17-44FB-AD9D-897A23FB6B71}" destId="{BDFD2B5E-16B6-463F-820E-0F858A76BF30}" srcOrd="6" destOrd="0" presId="urn:microsoft.com/office/officeart/2018/2/layout/IconVerticalSolidList"/>
    <dgm:cxn modelId="{67A6F118-BC59-4291-86E1-552F86DC927D}" type="presParOf" srcId="{BDFD2B5E-16B6-463F-820E-0F858A76BF30}" destId="{658E7918-2039-449B-A51D-29CE0EE20636}" srcOrd="0" destOrd="0" presId="urn:microsoft.com/office/officeart/2018/2/layout/IconVerticalSolidList"/>
    <dgm:cxn modelId="{64818D7D-BAB0-4A1B-BB7D-E729946C2B08}" type="presParOf" srcId="{BDFD2B5E-16B6-463F-820E-0F858A76BF30}" destId="{B67A05A7-6EF4-4E0E-8F55-175BECB2FE6E}" srcOrd="1" destOrd="0" presId="urn:microsoft.com/office/officeart/2018/2/layout/IconVerticalSolidList"/>
    <dgm:cxn modelId="{1A5DAE1D-3064-49F3-8344-2B0F26762DC4}" type="presParOf" srcId="{BDFD2B5E-16B6-463F-820E-0F858A76BF30}" destId="{F84459AB-38A2-4312-AE9D-6465A6162EF3}" srcOrd="2" destOrd="0" presId="urn:microsoft.com/office/officeart/2018/2/layout/IconVerticalSolidList"/>
    <dgm:cxn modelId="{78823D02-D63B-42F3-B019-724472731DB8}" type="presParOf" srcId="{BDFD2B5E-16B6-463F-820E-0F858A76BF30}" destId="{F6D4FD6C-B3BC-456E-A32E-ADB3D02EFAB7}" srcOrd="3" destOrd="0" presId="urn:microsoft.com/office/officeart/2018/2/layout/IconVerticalSolidList"/>
    <dgm:cxn modelId="{956F189B-A5A4-4F5B-B364-A19E3F4D11C6}" type="presParOf" srcId="{BDFD2B5E-16B6-463F-820E-0F858A76BF30}" destId="{543F658A-D7B1-427F-A580-5636853B4710}" srcOrd="4" destOrd="0" presId="urn:microsoft.com/office/officeart/2018/2/layout/IconVerticalSolidList"/>
    <dgm:cxn modelId="{08942A76-BEA9-4BFC-8F86-7458AAC9DE71}" type="presParOf" srcId="{0CF14370-CC17-44FB-AD9D-897A23FB6B71}" destId="{B044B19F-47D5-405E-9C10-7F874415F530}" srcOrd="7" destOrd="0" presId="urn:microsoft.com/office/officeart/2018/2/layout/IconVerticalSolidList"/>
    <dgm:cxn modelId="{EE2757AA-BBFA-49F8-A8FC-9568F16E9C8A}" type="presParOf" srcId="{0CF14370-CC17-44FB-AD9D-897A23FB6B71}" destId="{9EA29FE1-D517-41B3-B77B-4B506CE05AA6}" srcOrd="8" destOrd="0" presId="urn:microsoft.com/office/officeart/2018/2/layout/IconVerticalSolidList"/>
    <dgm:cxn modelId="{7C1AC297-FED3-42B2-8B28-F3D784E0B41B}" type="presParOf" srcId="{9EA29FE1-D517-41B3-B77B-4B506CE05AA6}" destId="{28C8C15D-A9FB-447F-B0E3-9540C2FAB6AE}" srcOrd="0" destOrd="0" presId="urn:microsoft.com/office/officeart/2018/2/layout/IconVerticalSolidList"/>
    <dgm:cxn modelId="{7EDCD4BD-5946-489F-9A00-28BAF0BD0774}" type="presParOf" srcId="{9EA29FE1-D517-41B3-B77B-4B506CE05AA6}" destId="{8CF205A8-D4C0-4ED1-BABF-AB2AD8C82249}" srcOrd="1" destOrd="0" presId="urn:microsoft.com/office/officeart/2018/2/layout/IconVerticalSolidList"/>
    <dgm:cxn modelId="{C157D421-149C-4182-B9F5-28AED02541AD}" type="presParOf" srcId="{9EA29FE1-D517-41B3-B77B-4B506CE05AA6}" destId="{A180B453-1353-4A9E-8036-7971E0A032C6}" srcOrd="2" destOrd="0" presId="urn:microsoft.com/office/officeart/2018/2/layout/IconVerticalSolidList"/>
    <dgm:cxn modelId="{F2928569-CB01-4877-B82D-043B3F36C887}" type="presParOf" srcId="{9EA29FE1-D517-41B3-B77B-4B506CE05AA6}" destId="{A21B9F9B-2B83-4E0C-AB3C-40EB3CA17F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142EC-4F6E-49A8-843F-D9E31B839347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95ACF-89EC-4B2C-BA32-FEB63109C3A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3A53E-BBF4-4CA3-BC89-20695374C086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O objetivo é maximizar o envio de cupons que converterão em transações</a:t>
          </a:r>
          <a:endParaRPr lang="en-US" sz="2200" kern="1200"/>
        </a:p>
      </dsp:txBody>
      <dsp:txXfrm>
        <a:off x="1057183" y="1805"/>
        <a:ext cx="9458416" cy="915310"/>
      </dsp:txXfrm>
    </dsp:sp>
    <dsp:sp modelId="{CA9B8FDD-E385-42C0-AE61-0BFAFE01DEB1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B2072-7BD5-478E-A4A4-39AE1B4C3472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97479-6786-4A3C-B9A6-45BE8E7CC3AA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Cupons devem estimular a compra</a:t>
          </a:r>
          <a:endParaRPr lang="en-US" sz="2200" kern="1200"/>
        </a:p>
      </dsp:txBody>
      <dsp:txXfrm>
        <a:off x="1057183" y="1145944"/>
        <a:ext cx="4732020" cy="915310"/>
      </dsp:txXfrm>
    </dsp:sp>
    <dsp:sp modelId="{8A141E51-24CD-4771-8D5B-8C9DE070A5BD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Ignorar  </a:t>
          </a:r>
          <a:r>
            <a:rPr lang="pt-BR" sz="1200" b="1" kern="1200" dirty="0">
              <a:solidFill>
                <a:srgbClr val="FF0000"/>
              </a:solidFill>
            </a:rPr>
            <a:t>X</a:t>
          </a:r>
          <a:endParaRPr lang="en-US" sz="1200" b="1" kern="1200" dirty="0">
            <a:solidFill>
              <a:srgbClr val="FF0000"/>
            </a:solidFill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Compra já seria feita independente do cupom </a:t>
          </a:r>
          <a:r>
            <a:rPr lang="pt-BR" sz="1200" b="1" kern="1200" dirty="0">
              <a:solidFill>
                <a:srgbClr val="FF0000"/>
              </a:solidFill>
            </a:rPr>
            <a:t>X</a:t>
          </a:r>
          <a:endParaRPr lang="en-US" sz="1200" b="1" kern="1200" dirty="0">
            <a:solidFill>
              <a:srgbClr val="FF0000"/>
            </a:solidFill>
          </a:endParaRPr>
        </a:p>
      </dsp:txBody>
      <dsp:txXfrm>
        <a:off x="5789203" y="1145944"/>
        <a:ext cx="4726396" cy="915310"/>
      </dsp:txXfrm>
    </dsp:sp>
    <dsp:sp modelId="{9897146B-A21D-4FAC-BE72-4AB6E91E159B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76359-F8A6-4384-8F0C-30B65B29EFF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6C63C-0735-4844-B719-5F842AC19CC7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Evento alvo:</a:t>
          </a:r>
          <a:endParaRPr lang="en-US" sz="2200" kern="1200"/>
        </a:p>
      </dsp:txBody>
      <dsp:txXfrm>
        <a:off x="1057183" y="2290082"/>
        <a:ext cx="4732020" cy="915310"/>
      </dsp:txXfrm>
    </dsp:sp>
    <dsp:sp modelId="{F2C15A5D-A6F8-4436-BE45-5095558E0BDD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offer received → offer viewed → [transaction(s)] → offer completed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Dentro da janela de duração do cupom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Para cupom informacional não há o offer completed</a:t>
          </a:r>
        </a:p>
      </dsp:txBody>
      <dsp:txXfrm>
        <a:off x="5789203" y="2290082"/>
        <a:ext cx="4726396" cy="915310"/>
      </dsp:txXfrm>
    </dsp:sp>
    <dsp:sp modelId="{3C6F5C41-CFC7-482B-9485-04C9BC72784D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3FF53-EC11-4AE6-AD3B-3B376D225FD7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CE954-A0E0-4BF9-93FB-72234042572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Um modelo para cada tipo de cupom (BOGO, Informacional e Desconto)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3E40B-D38F-4FB0-94D3-E79F0B4C7C4D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3D9D9-C272-46E0-A6E5-8596DAC99A0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1DFB0-EC6C-4F9F-8AC1-1D02B8955816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Perfil incompleto reduz conversão em TODOS os tipos de cupom</a:t>
          </a:r>
          <a:endParaRPr lang="en-US" sz="1800" kern="1200"/>
        </a:p>
      </dsp:txBody>
      <dsp:txXfrm>
        <a:off x="836323" y="3399"/>
        <a:ext cx="9679276" cy="724089"/>
      </dsp:txXfrm>
    </dsp:sp>
    <dsp:sp modelId="{B8224900-C739-4B93-B4AC-70155A01B9C8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7C8E8-61A3-49BD-B621-12C2A8506EA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7B6D9-FC08-409F-A98F-BF9A4AFA0C7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Rede social é o canal mais forte para BOGO e Desconto,  mas tem pouco efeito no Informacional</a:t>
          </a:r>
          <a:endParaRPr lang="en-US" sz="1800" kern="1200"/>
        </a:p>
      </dsp:txBody>
      <dsp:txXfrm>
        <a:off x="836323" y="908511"/>
        <a:ext cx="9679276" cy="724089"/>
      </dsp:txXfrm>
    </dsp:sp>
    <dsp:sp modelId="{13EF8E5D-9C0E-4F39-88E0-A5F86C052824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D92DA-4937-47E2-BC29-A295AD6E101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AC861-C39F-459D-8598-33C37927A477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Duração do cupom tem efeito OPOSTO entre os tipos: </a:t>
          </a:r>
          <a:endParaRPr lang="en-US" sz="1800" kern="1200"/>
        </a:p>
      </dsp:txBody>
      <dsp:txXfrm>
        <a:off x="836323" y="1813624"/>
        <a:ext cx="4732020" cy="724089"/>
      </dsp:txXfrm>
    </dsp:sp>
    <dsp:sp modelId="{8EAE8D1D-65BB-40CA-85EC-A9E239D2E874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BOGO/Desconto: cupons mais longos convertem mais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Informacional: cupons mais curtos convertem mais </a:t>
          </a:r>
          <a:endParaRPr lang="en-US" sz="1400" kern="1200" dirty="0"/>
        </a:p>
      </dsp:txBody>
      <dsp:txXfrm>
        <a:off x="5568343" y="1813624"/>
        <a:ext cx="4947256" cy="724089"/>
      </dsp:txXfrm>
    </dsp:sp>
    <dsp:sp modelId="{658E7918-2039-449B-A51D-29CE0EE20636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A05A7-6EF4-4E0E-8F55-175BECB2FE6E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4FD6C-B3BC-456E-A32E-ADB3D02EFAB7}">
      <dsp:nvSpPr>
        <dsp:cNvPr id="0" name=""/>
        <dsp:cNvSpPr/>
      </dsp:nvSpPr>
      <dsp:spPr>
        <a:xfrm>
          <a:off x="836323" y="2718736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Limite de cartão de crédito também se comporta de forma oposta: </a:t>
          </a:r>
          <a:endParaRPr lang="en-US" sz="1800" kern="1200"/>
        </a:p>
      </dsp:txBody>
      <dsp:txXfrm>
        <a:off x="836323" y="2718736"/>
        <a:ext cx="4732020" cy="724089"/>
      </dsp:txXfrm>
    </dsp:sp>
    <dsp:sp modelId="{543F658A-D7B1-427F-A580-5636853B4710}">
      <dsp:nvSpPr>
        <dsp:cNvPr id="0" name=""/>
        <dsp:cNvSpPr/>
      </dsp:nvSpPr>
      <dsp:spPr>
        <a:xfrm>
          <a:off x="5568343" y="2718736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BOGO/Desconto: quanto maior o limite, maior a conversão 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Informacional: quanto maior o limite, menor a conversão  </a:t>
          </a:r>
          <a:endParaRPr lang="en-US" sz="1400" kern="1200"/>
        </a:p>
      </dsp:txBody>
      <dsp:txXfrm>
        <a:off x="5568343" y="2718736"/>
        <a:ext cx="4947256" cy="724089"/>
      </dsp:txXfrm>
    </dsp:sp>
    <dsp:sp modelId="{28C8C15D-A9FB-447F-B0E3-9540C2FAB6A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205A8-D4C0-4ED1-BABF-AB2AD8C82249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B9F9B-2B83-4E0C-AB3C-40EB3CA17F6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BOGO é o tipo mais difícil de prever -&gt; fatores fora do </a:t>
          </a:r>
          <a:r>
            <a:rPr lang="pt-BR" sz="1800" kern="1200" dirty="0" err="1"/>
            <a:t>dataset</a:t>
          </a:r>
          <a:r>
            <a:rPr lang="pt-BR" sz="1800" kern="1200" dirty="0"/>
            <a:t> atual podem ter mais peso que o perfil do cliente</a:t>
          </a:r>
          <a:endParaRPr lang="en-US" sz="1800" kern="1200" dirty="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2EDCE-CE00-7019-89F3-AFC38D3B3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A50CDE-1C60-E24C-D2E4-2A7EC3049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480C16-21A8-BAB6-C3E5-AB8FBA94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0F8BB-F099-B456-78AA-A6F2359D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B89DAF-F718-287B-8B4C-C58A97A6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04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7348C-E8EB-19CC-C8EC-D38B4D0A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A4831-FBB3-55D8-74CC-3B6D185C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113F71-8453-63EF-1D0A-F17DBDFE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EA109-8548-32F7-0AF5-4858BF9D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935BBD-1864-8D5B-7C62-57586DB7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5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26219-3F20-EEE6-2B3C-2B0B261C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957303-326B-2D42-F1EF-D5A2A612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6C8821-9ACC-E209-CF3A-C9A8FF6E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255A1-CDBE-4D71-08EA-698DFD72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0D8A8A-E2C1-2D77-D516-E8A1373B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95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D78D5-FA68-F7BA-CBB9-5674C0F4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4EA619-9036-E2B9-F4FE-4D633B072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F9B659-D9F6-22BE-3D3E-5013ACDD7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AAD331-97E3-E774-3F65-6AEFCC6C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A0D65E-EE0D-AC68-560C-DF0B6B35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BAF1D6-CB4C-2357-F2F4-E303D86B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69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91A4B-F7CB-C2DA-9346-FD448D31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6BC7DE-CB2B-DA4F-AEB5-A4CAB7A7A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43FBE4-8F60-628C-E4B9-910D4C212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DD11D7-9575-012F-07A1-997757CB3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21DABD-9794-71D9-5B83-4234B7FA6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96123A-10F5-C114-2AB2-C8ACEF69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F40C0F-8742-840E-C257-9B9CF563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E9E9DC-3476-8716-F57A-79A9D0B5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7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55C2E-6007-C691-64C2-C2EEFA24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47F640-E924-9015-DCBB-7215F9A8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271276-9668-81D0-D3D1-336142EE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73B43C-97B1-F626-C8E1-A06B400A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28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A89D07-CB70-DDF7-4FC5-7DD184C6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F7576F-4DC7-33DF-7D8F-AB17D3F0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D17D28-0CD1-0E1A-7C16-31821B9C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68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49453-2BC8-85FB-5734-ED72EB7A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E4949-D400-3860-C32F-18C28637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82C4F3-CEA2-851A-5C80-D942399C7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FA8ECF-F9FB-9E0D-EFE3-5DB036D5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BBED49-E793-6EF9-4693-10457CB2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CD16D8-39D3-645B-B611-61BB0352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35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0FC11-7750-443B-BCC7-85166953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CA6E3A-A539-0985-2100-AA2BAB6A8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6253E0-8D11-E5C3-F9B7-E82143115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9740D-A84A-285A-4D90-4300B410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6352B9-DC8A-A1B6-2906-490CEA10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FBDDED-85E2-8DBA-09C2-8E3578B5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94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396D-DABB-D644-F0FB-A287AAE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A068BA-00CB-E858-E369-C24C2DE4D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E6905-F21C-BB61-8B7A-4BC96BD73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01F558-8328-7325-B12F-FB3E5BBC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3903B9-5020-C7A1-7EA5-A79CB756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55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D062C2-6AD3-9AB1-C8A1-FDD2AD4AA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C65395-2D15-4D19-9F86-81A173DF6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015E6-D207-A041-872C-030A8468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73B44-1167-1837-121C-B892055A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9A3856-6A1F-F546-2AF9-7DEF989D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11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0DBB9B-E24A-BEE1-382F-47E68416A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F9002F-618A-971F-33CC-62FEABD8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3AAA91-AB13-FDE8-37D4-41A44F49C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2E38D-CAC2-4C15-9795-525D4FDBAEBC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16F-B2AC-5C9C-CD0D-2F58866A5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1D0347-0ADC-767E-F3FF-C61D93E57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22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7" name="Rectangle 20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0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9" name="Rectangle 20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67D5BB-EFE1-E735-AC72-DC16EA0BE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pt-BR" sz="7200" dirty="0"/>
              <a:t>Case Técnico Data Science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F2E6CB-4393-29D9-CB9A-71EB00C7A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pt-BR"/>
              <a:t>Denise Boito Pereira da Silva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2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95A13-D99C-6B52-99D6-104097DF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quem enviar cupons?</a:t>
            </a:r>
          </a:p>
        </p:txBody>
      </p: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EC1D5C4E-828A-7FF9-4DF1-E3157985A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073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0364EFA-5750-DF57-43D4-C3EE82AAA96F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5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EA10F-33C8-6627-4BA2-62794067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Informacionais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BE165A0-F2A2-3851-D6E0-EB230B0CD429}"/>
              </a:ext>
            </a:extLst>
          </p:cNvPr>
          <p:cNvGrpSpPr/>
          <p:nvPr/>
        </p:nvGrpSpPr>
        <p:grpSpPr>
          <a:xfrm>
            <a:off x="464695" y="2217632"/>
            <a:ext cx="5616000" cy="370134"/>
            <a:chOff x="464695" y="1690689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5B7D0435-680A-6496-BDC1-665EEC3C26E6}"/>
                </a:ext>
              </a:extLst>
            </p:cNvPr>
            <p:cNvSpPr/>
            <p:nvPr/>
          </p:nvSpPr>
          <p:spPr>
            <a:xfrm>
              <a:off x="464695" y="1690689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5" name="Espaço Reservado para Conteúdo 2">
              <a:extLst>
                <a:ext uri="{FF2B5EF4-FFF2-40B4-BE49-F238E27FC236}">
                  <a16:creationId xmlns:a16="http://schemas.microsoft.com/office/drawing/2014/main" id="{6534F024-BF43-B779-1C0D-C65A55193293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1746704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Perfil não preenchido	0,54	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C133E725-84B6-E0A8-902C-B250724D4DA3}"/>
              </a:ext>
            </a:extLst>
          </p:cNvPr>
          <p:cNvGrpSpPr/>
          <p:nvPr/>
        </p:nvGrpSpPr>
        <p:grpSpPr>
          <a:xfrm>
            <a:off x="464695" y="2747769"/>
            <a:ext cx="5616000" cy="370134"/>
            <a:chOff x="464695" y="2496659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9AD732AB-BCDB-E677-7ECA-528315A3ADE8}"/>
                </a:ext>
              </a:extLst>
            </p:cNvPr>
            <p:cNvSpPr/>
            <p:nvPr/>
          </p:nvSpPr>
          <p:spPr>
            <a:xfrm>
              <a:off x="464695" y="2496659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9" name="Espaço Reservado para Conteúdo 2">
              <a:extLst>
                <a:ext uri="{FF2B5EF4-FFF2-40B4-BE49-F238E27FC236}">
                  <a16:creationId xmlns:a16="http://schemas.microsoft.com/office/drawing/2014/main" id="{B1F31BFE-4C78-FE62-A889-91A55CA425F5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2552674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Duração do cupom	0,5	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8CC16F0-F83A-FBED-B9A4-72532362B581}"/>
              </a:ext>
            </a:extLst>
          </p:cNvPr>
          <p:cNvGrpSpPr/>
          <p:nvPr/>
        </p:nvGrpSpPr>
        <p:grpSpPr>
          <a:xfrm>
            <a:off x="464695" y="3262410"/>
            <a:ext cx="5616000" cy="370134"/>
            <a:chOff x="464695" y="3328848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39FB0C22-1947-A982-6DF9-EE81554012A5}"/>
                </a:ext>
              </a:extLst>
            </p:cNvPr>
            <p:cNvSpPr/>
            <p:nvPr/>
          </p:nvSpPr>
          <p:spPr>
            <a:xfrm>
              <a:off x="464695" y="3328848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13" name="Espaço Reservado para Conteúdo 2">
              <a:extLst>
                <a:ext uri="{FF2B5EF4-FFF2-40B4-BE49-F238E27FC236}">
                  <a16:creationId xmlns:a16="http://schemas.microsoft.com/office/drawing/2014/main" id="{E299C000-EC96-F762-61AF-43340F3067C3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3384863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Tempo em que a conta foi criada	0,29	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7397700-2C28-BED6-D6AB-CC538F575668}"/>
              </a:ext>
            </a:extLst>
          </p:cNvPr>
          <p:cNvGrpSpPr/>
          <p:nvPr/>
        </p:nvGrpSpPr>
        <p:grpSpPr>
          <a:xfrm>
            <a:off x="459698" y="3761551"/>
            <a:ext cx="5616000" cy="370134"/>
            <a:chOff x="459698" y="421705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15F32D6-BA2B-B231-A842-1FF3049D9B37}"/>
                </a:ext>
              </a:extLst>
            </p:cNvPr>
            <p:cNvSpPr/>
            <p:nvPr/>
          </p:nvSpPr>
          <p:spPr>
            <a:xfrm>
              <a:off x="459698" y="421705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17" name="Espaço Reservado para Conteúdo 2">
              <a:extLst>
                <a:ext uri="{FF2B5EF4-FFF2-40B4-BE49-F238E27FC236}">
                  <a16:creationId xmlns:a16="http://schemas.microsoft.com/office/drawing/2014/main" id="{77233426-158B-20C1-AFF7-9DC0B4697DC1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427306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Cupom enviado pela web	0,23	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9072164-F5D2-9905-933B-76A1CD2E5321}"/>
              </a:ext>
            </a:extLst>
          </p:cNvPr>
          <p:cNvGrpSpPr/>
          <p:nvPr/>
        </p:nvGrpSpPr>
        <p:grpSpPr>
          <a:xfrm>
            <a:off x="459698" y="4291690"/>
            <a:ext cx="5616000" cy="370134"/>
            <a:chOff x="459698" y="509286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8380DCAB-7842-9DC7-D921-AE355005C2FF}"/>
                </a:ext>
              </a:extLst>
            </p:cNvPr>
            <p:cNvSpPr/>
            <p:nvPr/>
          </p:nvSpPr>
          <p:spPr>
            <a:xfrm>
              <a:off x="459698" y="509286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21" name="Espaço Reservado para Conteúdo 2">
              <a:extLst>
                <a:ext uri="{FF2B5EF4-FFF2-40B4-BE49-F238E27FC236}">
                  <a16:creationId xmlns:a16="http://schemas.microsoft.com/office/drawing/2014/main" id="{3DA221BA-DBF2-8F58-EBA9-192ADF4BA120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514887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Cupom enviado por rede social	0,23	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83A3AB3-4E7B-A6C9-AADC-3C4A84E14E0A}"/>
              </a:ext>
            </a:extLst>
          </p:cNvPr>
          <p:cNvGrpSpPr/>
          <p:nvPr/>
        </p:nvGrpSpPr>
        <p:grpSpPr>
          <a:xfrm>
            <a:off x="459698" y="4806331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8A39A45A-A201-B270-308F-36D262318B5B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25" name="Espaço Reservado para Conteúdo 2">
              <a:extLst>
                <a:ext uri="{FF2B5EF4-FFF2-40B4-BE49-F238E27FC236}">
                  <a16:creationId xmlns:a16="http://schemas.microsoft.com/office/drawing/2014/main" id="{0B1DADDE-E556-18A5-8F70-52BEBACF1383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Limite do cartão de crédito	0,23	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C91E35E-7299-A3FF-6D40-90F9B64222D7}"/>
              </a:ext>
            </a:extLst>
          </p:cNvPr>
          <p:cNvGrpSpPr/>
          <p:nvPr/>
        </p:nvGrpSpPr>
        <p:grpSpPr>
          <a:xfrm>
            <a:off x="459696" y="5364963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28CD9CCB-57E9-3D8E-D96B-B77FF54DFC60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34" name="Espaço Reservado para Conteúdo 2">
              <a:extLst>
                <a:ext uri="{FF2B5EF4-FFF2-40B4-BE49-F238E27FC236}">
                  <a16:creationId xmlns:a16="http://schemas.microsoft.com/office/drawing/2014/main" id="{46063C1B-B82A-3197-5E05-AF3C759F73CF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Gênero Feminino ou Outro	0,09	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CDE6688-20D9-B481-9E04-91D2EFD35A59}"/>
              </a:ext>
            </a:extLst>
          </p:cNvPr>
          <p:cNvGrpSpPr/>
          <p:nvPr/>
        </p:nvGrpSpPr>
        <p:grpSpPr>
          <a:xfrm>
            <a:off x="459696" y="5959735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8C51BDBD-C39B-BD79-7FE9-06066E812AAF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5400"/>
            </a:p>
          </p:txBody>
        </p:sp>
        <p:sp>
          <p:nvSpPr>
            <p:cNvPr id="37" name="Espaço Reservado para Conteúdo 2">
              <a:extLst>
                <a:ext uri="{FF2B5EF4-FFF2-40B4-BE49-F238E27FC236}">
                  <a16:creationId xmlns:a16="http://schemas.microsoft.com/office/drawing/2014/main" id="{770BE481-848A-516A-93DF-316CBF63DC21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Idade	0,1</a:t>
              </a:r>
            </a:p>
          </p:txBody>
        </p:sp>
      </p:grp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3FA158D9-19AE-6D67-DF73-482424A3F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3306943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51B3C002-A096-5223-4BC8-A751C2C12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1" y="4342748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DDC4284B-E16B-3DFE-424C-DB8D4027B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0" y="5409634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0768F233-055A-33B2-6348-F66C2BEE1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9" y="2266387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C8A304C2-856A-6C8E-236C-7E8A4BC4D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8" y="2776264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79508AE9-44B1-C701-0FF6-369B0230E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4" y="3798735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AB4684C6-BD3B-BEAE-CC27-6A51D1B3A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66" y="4850146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A239D8C6-55A7-6BA4-3DF5-CB2E5B738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66" y="6010793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7E6CD7F9-24DC-D8BB-6426-D40BB3E6D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518623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11,8 %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47,5 %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4,14 %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37,7 %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4183EBA6-8146-F340-7739-B3FFF0E8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5881" y="3078497"/>
            <a:ext cx="4937502" cy="2684550"/>
          </a:xfrm>
        </p:spPr>
        <p:txBody>
          <a:bodyPr>
            <a:normAutofit/>
          </a:bodyPr>
          <a:lstStyle/>
          <a:p>
            <a:r>
              <a:rPr lang="pt-BR" sz="2000" dirty="0"/>
              <a:t>O modelo captura </a:t>
            </a:r>
            <a:r>
              <a:rPr lang="pt-BR" sz="2000" b="1" dirty="0"/>
              <a:t>90% das conversões reais</a:t>
            </a:r>
            <a:r>
              <a:rPr lang="pt-BR" sz="2000" dirty="0"/>
              <a:t> (Recall)</a:t>
            </a:r>
          </a:p>
          <a:p>
            <a:r>
              <a:rPr lang="pt-BR" sz="2000" dirty="0"/>
              <a:t>Acertar em cheio ~44% das vezes (</a:t>
            </a:r>
            <a:r>
              <a:rPr lang="pt-BR" sz="2000" dirty="0" err="1"/>
              <a:t>Precision</a:t>
            </a:r>
            <a:r>
              <a:rPr lang="pt-BR" sz="2000" dirty="0"/>
              <a:t>)</a:t>
            </a:r>
          </a:p>
          <a:p>
            <a:r>
              <a:rPr lang="pt-BR" sz="2000" dirty="0"/>
              <a:t>Trade-off intencional: o cupom informacional é o mais barato de disparar -&gt; não perder oportunidade de engajamento</a:t>
            </a:r>
          </a:p>
        </p:txBody>
      </p:sp>
      <p:sp>
        <p:nvSpPr>
          <p:cNvPr id="58" name="Triângulo isósceles 57">
            <a:extLst>
              <a:ext uri="{FF2B5EF4-FFF2-40B4-BE49-F238E27FC236}">
                <a16:creationId xmlns:a16="http://schemas.microsoft.com/office/drawing/2014/main" id="{F9451AFB-CCBC-A648-B958-07CD578A4C04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955F229C-AA10-CF39-BED7-C030956F58E5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991B57-A4B2-BF44-F7E7-22B481C5A690}"/>
              </a:ext>
            </a:extLst>
          </p:cNvPr>
          <p:cNvSpPr txBox="1"/>
          <p:nvPr/>
        </p:nvSpPr>
        <p:spPr>
          <a:xfrm>
            <a:off x="459696" y="1659919"/>
            <a:ext cx="2903436" cy="38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>
                <a:solidFill>
                  <a:schemeClr val="accent4"/>
                </a:solidFill>
              </a:rPr>
              <a:t>Variáveis e sua importância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302796A-EF34-137F-DD8D-4730F4DE6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27015"/>
              </p:ext>
            </p:extLst>
          </p:nvPr>
        </p:nvGraphicFramePr>
        <p:xfrm>
          <a:off x="6647101" y="5807695"/>
          <a:ext cx="5393412" cy="796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8902">
                  <a:extLst>
                    <a:ext uri="{9D8B030D-6E8A-4147-A177-3AD203B41FA5}">
                      <a16:colId xmlns:a16="http://schemas.microsoft.com/office/drawing/2014/main" val="942527601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39852045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893421048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156498084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0992378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374056059"/>
                    </a:ext>
                  </a:extLst>
                </a:gridCol>
              </a:tblGrid>
              <a:tr h="39819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AUC-ROC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AUC-PR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1924"/>
                  </a:ext>
                </a:extLst>
              </a:tr>
              <a:tr h="398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0,62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0,51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0,49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0,59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0, 44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0, 9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982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97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AEA3-C2E9-9F1F-EC60-8F94377C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4E08-E792-2838-3C55-0DD92677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BOGO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9582B58-1F6C-23E3-3649-65010E987AE9}"/>
              </a:ext>
            </a:extLst>
          </p:cNvPr>
          <p:cNvSpPr/>
          <p:nvPr/>
        </p:nvSpPr>
        <p:spPr>
          <a:xfrm>
            <a:off x="464695" y="1923166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DB1C89E-0A19-6B96-2A9B-943766630824}"/>
              </a:ext>
            </a:extLst>
          </p:cNvPr>
          <p:cNvSpPr txBox="1">
            <a:spLocks/>
          </p:cNvSpPr>
          <p:nvPr/>
        </p:nvSpPr>
        <p:spPr>
          <a:xfrm>
            <a:off x="518617" y="1979181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Perfil não preenchido	0,83	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3D3A4F9-6E0E-71DE-9D85-32D0072BB9E9}"/>
              </a:ext>
            </a:extLst>
          </p:cNvPr>
          <p:cNvSpPr/>
          <p:nvPr/>
        </p:nvSpPr>
        <p:spPr>
          <a:xfrm>
            <a:off x="464695" y="2453303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B1C4EE5-156A-F381-67F6-49C87E292FA4}"/>
              </a:ext>
            </a:extLst>
          </p:cNvPr>
          <p:cNvSpPr/>
          <p:nvPr/>
        </p:nvSpPr>
        <p:spPr>
          <a:xfrm>
            <a:off x="464695" y="2967944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1B2171C-E4DD-325C-7650-FACAD6874D5F}"/>
              </a:ext>
            </a:extLst>
          </p:cNvPr>
          <p:cNvSpPr/>
          <p:nvPr/>
        </p:nvSpPr>
        <p:spPr>
          <a:xfrm>
            <a:off x="459698" y="3467085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E0F0DE9-BD1F-8B02-BA8E-F2E21EBAAFB1}"/>
              </a:ext>
            </a:extLst>
          </p:cNvPr>
          <p:cNvSpPr/>
          <p:nvPr/>
        </p:nvSpPr>
        <p:spPr>
          <a:xfrm>
            <a:off x="459698" y="3997224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277CE64A-1506-068B-4D01-1493CD382EFC}"/>
              </a:ext>
            </a:extLst>
          </p:cNvPr>
          <p:cNvSpPr txBox="1">
            <a:spLocks/>
          </p:cNvSpPr>
          <p:nvPr/>
        </p:nvSpPr>
        <p:spPr>
          <a:xfrm>
            <a:off x="506190" y="301704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por rede social	0,52	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69DD1B0-2BE9-6C1F-F354-CEBC0B373F2F}"/>
              </a:ext>
            </a:extLst>
          </p:cNvPr>
          <p:cNvSpPr/>
          <p:nvPr/>
        </p:nvSpPr>
        <p:spPr>
          <a:xfrm>
            <a:off x="459698" y="4511865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BB46E9DD-179A-A14B-1A6C-8283E078A48D}"/>
              </a:ext>
            </a:extLst>
          </p:cNvPr>
          <p:cNvSpPr txBox="1">
            <a:spLocks/>
          </p:cNvSpPr>
          <p:nvPr/>
        </p:nvSpPr>
        <p:spPr>
          <a:xfrm>
            <a:off x="513618" y="3513638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Limite do cartão de crédito	0,46	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F6F5F29-4D4A-0FA3-E862-D873319300D5}"/>
              </a:ext>
            </a:extLst>
          </p:cNvPr>
          <p:cNvSpPr/>
          <p:nvPr/>
        </p:nvSpPr>
        <p:spPr>
          <a:xfrm>
            <a:off x="459696" y="5070497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4" name="Espaço Reservado para Conteúdo 2">
            <a:extLst>
              <a:ext uri="{FF2B5EF4-FFF2-40B4-BE49-F238E27FC236}">
                <a16:creationId xmlns:a16="http://schemas.microsoft.com/office/drawing/2014/main" id="{2A109C59-C9D6-4EE4-0709-1AE17CC6F7A6}"/>
              </a:ext>
            </a:extLst>
          </p:cNvPr>
          <p:cNvSpPr txBox="1">
            <a:spLocks/>
          </p:cNvSpPr>
          <p:nvPr/>
        </p:nvSpPr>
        <p:spPr>
          <a:xfrm>
            <a:off x="480003" y="2488644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Gênero Feminino ou Outro	0,54	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EC74590F-8949-2CF4-6312-B9F4A12C1EB7}"/>
              </a:ext>
            </a:extLst>
          </p:cNvPr>
          <p:cNvSpPr/>
          <p:nvPr/>
        </p:nvSpPr>
        <p:spPr>
          <a:xfrm>
            <a:off x="459696" y="5665269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B39DB1D1-2988-2002-4676-853981183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3012477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5EDADC73-6E99-6AD4-2253-0C0A0E692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1" y="4048282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6380633E-232F-8D8B-7117-1F50F5EA4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0" y="5115168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A69AB4E4-3032-77A2-149B-2EB0B1E1C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718879" y="1971921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81BA4ABA-7320-5A88-1C71-F825E70EB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78" y="2481798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487C6FE6-8144-6CD9-4A0C-485E2BE3C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74" y="3504269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F1B48BC7-9312-E09C-B4E3-93ECCFD7E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718866" y="4555680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CF1F0AE1-E99E-B724-E78B-7265D563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66" y="5716327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3F0C31DE-DD0A-1B5F-04BF-FCD209DAE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610006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40,8 %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14,7 %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21,9 %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22,6 %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D2225ACD-27AC-3D49-6C29-B31BBA728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878" y="3290894"/>
            <a:ext cx="4937502" cy="2684550"/>
          </a:xfrm>
        </p:spPr>
        <p:txBody>
          <a:bodyPr>
            <a:normAutofit/>
          </a:bodyPr>
          <a:lstStyle/>
          <a:p>
            <a:r>
              <a:rPr lang="pt-BR" sz="2000" dirty="0"/>
              <a:t>BOGO é o tipo com </a:t>
            </a:r>
            <a:r>
              <a:rPr lang="pt-BR" sz="2000" b="1" dirty="0"/>
              <a:t>menor previsibilidade</a:t>
            </a:r>
            <a:r>
              <a:rPr lang="pt-BR" sz="2000" dirty="0"/>
              <a:t> entre os três (AUC 0,69)</a:t>
            </a:r>
          </a:p>
          <a:p>
            <a:r>
              <a:rPr lang="pt-BR" sz="2000" dirty="0"/>
              <a:t>Comportamento do cliente parece depender mais de fatores fora dos dados disponíveis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5F36875-12DC-FD36-6C6F-256EAA55136F}"/>
              </a:ext>
            </a:extLst>
          </p:cNvPr>
          <p:cNvSpPr txBox="1">
            <a:spLocks/>
          </p:cNvSpPr>
          <p:nvPr/>
        </p:nvSpPr>
        <p:spPr>
          <a:xfrm>
            <a:off x="513618" y="4031143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mínimo de compra	0,34	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26ABAB5F-85CE-F457-850C-F09CE7BD2C26}"/>
              </a:ext>
            </a:extLst>
          </p:cNvPr>
          <p:cNvSpPr txBox="1">
            <a:spLocks/>
          </p:cNvSpPr>
          <p:nvPr/>
        </p:nvSpPr>
        <p:spPr>
          <a:xfrm>
            <a:off x="513618" y="4554976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Duração do cupom	0,23	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D2D45E4-FD7A-424A-36FF-EE60087B897B}"/>
              </a:ext>
            </a:extLst>
          </p:cNvPr>
          <p:cNvSpPr txBox="1">
            <a:spLocks/>
          </p:cNvSpPr>
          <p:nvPr/>
        </p:nvSpPr>
        <p:spPr>
          <a:xfrm>
            <a:off x="513618" y="5118282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pela web	0,18	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34DB77C-0041-A3F2-1AB7-366C9ED9D5A5}"/>
              </a:ext>
            </a:extLst>
          </p:cNvPr>
          <p:cNvSpPr txBox="1">
            <a:spLocks/>
          </p:cNvSpPr>
          <p:nvPr/>
        </p:nvSpPr>
        <p:spPr>
          <a:xfrm>
            <a:off x="513618" y="5704815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Tempo em que a conta foi criada 	0,12	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D18FFDF-389B-4B2C-BC46-4D6A6FE2C2D3}"/>
              </a:ext>
            </a:extLst>
          </p:cNvPr>
          <p:cNvSpPr/>
          <p:nvPr/>
        </p:nvSpPr>
        <p:spPr>
          <a:xfrm>
            <a:off x="480003" y="6202511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4" name="Gráfico 13" descr="Seta para Cima com preenchimento sólido">
            <a:extLst>
              <a:ext uri="{FF2B5EF4-FFF2-40B4-BE49-F238E27FC236}">
                <a16:creationId xmlns:a16="http://schemas.microsoft.com/office/drawing/2014/main" id="{2E029C0D-6075-7051-351E-F3502EC16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9173" y="6253569"/>
            <a:ext cx="309965" cy="309965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EA34FDF3-EEB0-4A15-0576-972000B8B481}"/>
              </a:ext>
            </a:extLst>
          </p:cNvPr>
          <p:cNvSpPr txBox="1">
            <a:spLocks/>
          </p:cNvSpPr>
          <p:nvPr/>
        </p:nvSpPr>
        <p:spPr>
          <a:xfrm>
            <a:off x="533925" y="6242057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Idade	0,06	</a:t>
            </a:r>
          </a:p>
        </p:txBody>
      </p:sp>
      <p:sp>
        <p:nvSpPr>
          <p:cNvPr id="22" name="Triângulo isósceles 21">
            <a:extLst>
              <a:ext uri="{FF2B5EF4-FFF2-40B4-BE49-F238E27FC236}">
                <a16:creationId xmlns:a16="http://schemas.microsoft.com/office/drawing/2014/main" id="{E464FC25-BE40-4173-E4F3-42B31A2DA380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A8471555-DC7B-B377-634B-8024122DFBB1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2467FA-E865-56B3-9E70-4CC3DF15CF8A}"/>
              </a:ext>
            </a:extLst>
          </p:cNvPr>
          <p:cNvSpPr txBox="1"/>
          <p:nvPr/>
        </p:nvSpPr>
        <p:spPr>
          <a:xfrm>
            <a:off x="459696" y="1520439"/>
            <a:ext cx="2903436" cy="38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>
                <a:solidFill>
                  <a:schemeClr val="accent4"/>
                </a:solidFill>
              </a:rPr>
              <a:t>Variáveis e sua importância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5556DD40-CBD5-3D7A-CEDF-E26A78D3F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17567"/>
              </p:ext>
            </p:extLst>
          </p:nvPr>
        </p:nvGraphicFramePr>
        <p:xfrm>
          <a:off x="6571281" y="5193722"/>
          <a:ext cx="5393412" cy="796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8902">
                  <a:extLst>
                    <a:ext uri="{9D8B030D-6E8A-4147-A177-3AD203B41FA5}">
                      <a16:colId xmlns:a16="http://schemas.microsoft.com/office/drawing/2014/main" val="942527601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39852045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893421048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156498084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0992378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374056059"/>
                    </a:ext>
                  </a:extLst>
                </a:gridCol>
              </a:tblGrid>
              <a:tr h="39819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AUC-ROC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AUC-PR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1924"/>
                  </a:ext>
                </a:extLst>
              </a:tr>
              <a:tr h="398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0, 60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0, 51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982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37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285C-A767-6F41-7107-F68C318A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7E939-A2E3-871F-A6E3-6F2AAFE7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de Desconto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B58A9E0-2641-D5E4-78E6-DC1BF1AF561C}"/>
              </a:ext>
            </a:extLst>
          </p:cNvPr>
          <p:cNvSpPr/>
          <p:nvPr/>
        </p:nvSpPr>
        <p:spPr>
          <a:xfrm>
            <a:off x="464695" y="1892163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C10DF9B-BD7D-8D77-EB37-8CFB1CACB52B}"/>
              </a:ext>
            </a:extLst>
          </p:cNvPr>
          <p:cNvSpPr/>
          <p:nvPr/>
        </p:nvSpPr>
        <p:spPr>
          <a:xfrm>
            <a:off x="464695" y="236030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AC30BD0-AF40-70D7-8D41-78B00104DD3D}"/>
              </a:ext>
            </a:extLst>
          </p:cNvPr>
          <p:cNvSpPr/>
          <p:nvPr/>
        </p:nvSpPr>
        <p:spPr>
          <a:xfrm>
            <a:off x="464695" y="2812957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E2729E-D4C0-701A-4C3A-303BA6F940E4}"/>
              </a:ext>
            </a:extLst>
          </p:cNvPr>
          <p:cNvSpPr/>
          <p:nvPr/>
        </p:nvSpPr>
        <p:spPr>
          <a:xfrm>
            <a:off x="459698" y="3265604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5D2B33D-3E9F-5A00-CCF5-BCBA90C9C86B}"/>
              </a:ext>
            </a:extLst>
          </p:cNvPr>
          <p:cNvSpPr/>
          <p:nvPr/>
        </p:nvSpPr>
        <p:spPr>
          <a:xfrm>
            <a:off x="459698" y="3733751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2F94A10A-AB52-C7E1-9B2B-DAC41C05AB67}"/>
              </a:ext>
            </a:extLst>
          </p:cNvPr>
          <p:cNvSpPr txBox="1">
            <a:spLocks/>
          </p:cNvSpPr>
          <p:nvPr/>
        </p:nvSpPr>
        <p:spPr>
          <a:xfrm>
            <a:off x="533925" y="194794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por rede social	1,11	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DFE0BF5-0F6F-D002-5FCF-4DADD6BF0014}"/>
              </a:ext>
            </a:extLst>
          </p:cNvPr>
          <p:cNvSpPr/>
          <p:nvPr/>
        </p:nvSpPr>
        <p:spPr>
          <a:xfrm>
            <a:off x="459698" y="420189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F8636D3-181C-24D0-926B-CA1E67CD2352}"/>
              </a:ext>
            </a:extLst>
          </p:cNvPr>
          <p:cNvSpPr/>
          <p:nvPr/>
        </p:nvSpPr>
        <p:spPr>
          <a:xfrm>
            <a:off x="459696" y="469853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4" name="Espaço Reservado para Conteúdo 2">
            <a:extLst>
              <a:ext uri="{FF2B5EF4-FFF2-40B4-BE49-F238E27FC236}">
                <a16:creationId xmlns:a16="http://schemas.microsoft.com/office/drawing/2014/main" id="{6FFB0140-C6A3-67E4-EDBE-D2A40FD7CE38}"/>
              </a:ext>
            </a:extLst>
          </p:cNvPr>
          <p:cNvSpPr txBox="1">
            <a:spLocks/>
          </p:cNvSpPr>
          <p:nvPr/>
        </p:nvSpPr>
        <p:spPr>
          <a:xfrm>
            <a:off x="556026" y="4734098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Gênero Feminino ou Outro	0,21	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6526FAC-3D3F-7B2B-EFF1-1801706B84AA}"/>
              </a:ext>
            </a:extLst>
          </p:cNvPr>
          <p:cNvSpPr/>
          <p:nvPr/>
        </p:nvSpPr>
        <p:spPr>
          <a:xfrm>
            <a:off x="459696" y="5169326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9E63ACAB-3FC8-43E0-E908-1B2D8B4E5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2857490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9B640528-4B6D-3B46-274E-A9DEA3BEA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1" y="3784809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41F0EF63-D5D7-8D7B-06DD-EF672999A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0" y="4743209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A8ABD62A-574D-6F8A-9EE0-27A7DEF36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79" y="1940918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72841AEA-750F-3B54-5425-D3D75A90D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18878" y="2388803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5E0DE7AD-603A-EB8E-D0CF-7370BF56A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74" y="3302788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A516B594-C347-6C47-D419-816B71A55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4245713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3D2B9B2F-0A9D-6E11-102B-9B85534A39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5220384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FD3F43AB-102A-B5F2-C4AD-AB261B0DD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45675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26,0 %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17,6 %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12,7 %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43,7 %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34F0F8C7-6E1E-0027-F187-54281AE2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878" y="3290894"/>
            <a:ext cx="4937502" cy="1874047"/>
          </a:xfrm>
        </p:spPr>
        <p:txBody>
          <a:bodyPr>
            <a:normAutofit/>
          </a:bodyPr>
          <a:lstStyle/>
          <a:p>
            <a:r>
              <a:rPr lang="pt-BR" sz="2000" dirty="0"/>
              <a:t>Desconto é o tipo com </a:t>
            </a:r>
            <a:r>
              <a:rPr lang="pt-BR" sz="2000" b="1" dirty="0"/>
              <a:t>melhor performance geral</a:t>
            </a:r>
            <a:r>
              <a:rPr lang="pt-BR" sz="2000" dirty="0"/>
              <a:t> (AUC 0,76, Recall 77%)</a:t>
            </a:r>
          </a:p>
          <a:p>
            <a:r>
              <a:rPr lang="pt-BR" sz="2000" dirty="0"/>
              <a:t>Modelo captura a grande maioria das conversões reais -&gt; boa confiabilidade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F07B81C-F433-94E9-68BE-0E52A0E4D8E0}"/>
              </a:ext>
            </a:extLst>
          </p:cNvPr>
          <p:cNvSpPr txBox="1">
            <a:spLocks/>
          </p:cNvSpPr>
          <p:nvPr/>
        </p:nvSpPr>
        <p:spPr>
          <a:xfrm>
            <a:off x="513618" y="376767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mínimo de compra	0,24	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F029951-D079-5A10-823C-7B5C3D5C01C8}"/>
              </a:ext>
            </a:extLst>
          </p:cNvPr>
          <p:cNvSpPr txBox="1">
            <a:spLocks/>
          </p:cNvSpPr>
          <p:nvPr/>
        </p:nvSpPr>
        <p:spPr>
          <a:xfrm>
            <a:off x="513618" y="424500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Duração do cupom	0,21	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912CE44F-807B-B112-F5AC-D02890989B0F}"/>
              </a:ext>
            </a:extLst>
          </p:cNvPr>
          <p:cNvSpPr txBox="1">
            <a:spLocks/>
          </p:cNvSpPr>
          <p:nvPr/>
        </p:nvSpPr>
        <p:spPr>
          <a:xfrm>
            <a:off x="556026" y="332189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via mobile	0,36	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820A023-5394-16BC-BB2E-8E5B9B9EEE34}"/>
              </a:ext>
            </a:extLst>
          </p:cNvPr>
          <p:cNvSpPr txBox="1">
            <a:spLocks/>
          </p:cNvSpPr>
          <p:nvPr/>
        </p:nvSpPr>
        <p:spPr>
          <a:xfrm>
            <a:off x="538479" y="285345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Tempo em que a conta foi criada 	0,44	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1CE88EE-07CB-6E0C-3B44-F2E7A8AA99F2}"/>
              </a:ext>
            </a:extLst>
          </p:cNvPr>
          <p:cNvSpPr/>
          <p:nvPr/>
        </p:nvSpPr>
        <p:spPr>
          <a:xfrm>
            <a:off x="480003" y="562907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4" name="Gráfico 13" descr="Seta para Cima com preenchimento sólido">
            <a:extLst>
              <a:ext uri="{FF2B5EF4-FFF2-40B4-BE49-F238E27FC236}">
                <a16:creationId xmlns:a16="http://schemas.microsoft.com/office/drawing/2014/main" id="{20A75EF2-22EA-8119-1AD3-EE3E58FEC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39173" y="5680136"/>
            <a:ext cx="309965" cy="309965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29BDFB38-65EE-63E8-B6D3-649A2544FBE6}"/>
              </a:ext>
            </a:extLst>
          </p:cNvPr>
          <p:cNvSpPr txBox="1">
            <a:spLocks/>
          </p:cNvSpPr>
          <p:nvPr/>
        </p:nvSpPr>
        <p:spPr>
          <a:xfrm>
            <a:off x="533925" y="5668624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do desconto	0,10	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ADA30C2-F64A-0BC4-E4DE-DCE7646F6CC4}"/>
              </a:ext>
            </a:extLst>
          </p:cNvPr>
          <p:cNvSpPr txBox="1">
            <a:spLocks/>
          </p:cNvSpPr>
          <p:nvPr/>
        </p:nvSpPr>
        <p:spPr>
          <a:xfrm>
            <a:off x="533925" y="2384638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Perfil não preenchido	1,01	</a:t>
            </a:r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8F4B2258-4758-40CD-7417-09D01AA5A930}"/>
              </a:ext>
            </a:extLst>
          </p:cNvPr>
          <p:cNvSpPr txBox="1">
            <a:spLocks/>
          </p:cNvSpPr>
          <p:nvPr/>
        </p:nvSpPr>
        <p:spPr>
          <a:xfrm>
            <a:off x="533925" y="5217492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Limite do cartão de crédito	0,14	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9FDFECD-DD41-ED56-F00E-3E6CE278B5AA}"/>
              </a:ext>
            </a:extLst>
          </p:cNvPr>
          <p:cNvSpPr/>
          <p:nvPr/>
        </p:nvSpPr>
        <p:spPr>
          <a:xfrm>
            <a:off x="459696" y="6104173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6" name="Gráfico 15" descr="Seta para Cima com preenchimento sólido">
            <a:extLst>
              <a:ext uri="{FF2B5EF4-FFF2-40B4-BE49-F238E27FC236}">
                <a16:creationId xmlns:a16="http://schemas.microsoft.com/office/drawing/2014/main" id="{0FFAC8DD-D980-4890-AAD7-2E24044A7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6155231"/>
            <a:ext cx="309965" cy="309965"/>
          </a:xfrm>
          <a:prstGeom prst="rect">
            <a:avLst/>
          </a:prstGeom>
        </p:spPr>
      </p:pic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6C193FB6-CE4C-E241-4A59-B89F04EF0206}"/>
              </a:ext>
            </a:extLst>
          </p:cNvPr>
          <p:cNvSpPr txBox="1">
            <a:spLocks/>
          </p:cNvSpPr>
          <p:nvPr/>
        </p:nvSpPr>
        <p:spPr>
          <a:xfrm>
            <a:off x="513618" y="614371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Idade	0,06	</a:t>
            </a:r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24602E94-A19C-0857-46AF-28E30FF75E41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8A6C824-55A3-A9BA-B569-1272290FF010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62B598F-EF4D-D8A2-8B4E-7B1E29822F27}"/>
              </a:ext>
            </a:extLst>
          </p:cNvPr>
          <p:cNvSpPr txBox="1"/>
          <p:nvPr/>
        </p:nvSpPr>
        <p:spPr>
          <a:xfrm>
            <a:off x="384567" y="1470906"/>
            <a:ext cx="2903436" cy="38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dirty="0">
                <a:solidFill>
                  <a:schemeClr val="accent4"/>
                </a:solidFill>
              </a:rPr>
              <a:t>Variáveis e sua importância</a:t>
            </a:r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D110AAD3-3BEE-B1E0-13B1-3E4A15D71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89850"/>
              </p:ext>
            </p:extLst>
          </p:nvPr>
        </p:nvGraphicFramePr>
        <p:xfrm>
          <a:off x="6571281" y="5193722"/>
          <a:ext cx="5393412" cy="796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8902">
                  <a:extLst>
                    <a:ext uri="{9D8B030D-6E8A-4147-A177-3AD203B41FA5}">
                      <a16:colId xmlns:a16="http://schemas.microsoft.com/office/drawing/2014/main" val="942527601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39852045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893421048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156498084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1099237832"/>
                    </a:ext>
                  </a:extLst>
                </a:gridCol>
                <a:gridCol w="898902">
                  <a:extLst>
                    <a:ext uri="{9D8B030D-6E8A-4147-A177-3AD203B41FA5}">
                      <a16:colId xmlns:a16="http://schemas.microsoft.com/office/drawing/2014/main" val="2374056059"/>
                    </a:ext>
                  </a:extLst>
                </a:gridCol>
              </a:tblGrid>
              <a:tr h="39819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AUC-ROC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AUC-PR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pt-BR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marL="9525" marR="9525" marT="9525" marB="0" anchor="ctr">
                    <a:solidFill>
                      <a:srgbClr val="EA1D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1924"/>
                  </a:ext>
                </a:extLst>
              </a:tr>
              <a:tr h="398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0,76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0,78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0,70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0,69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0,71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0,77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9829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20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075A-10C1-8BCB-2203-7E3C85A0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B3C3C-8469-86C6-649B-FF088E83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Considerações finais</a:t>
            </a:r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6E74349B-F4BC-9133-4594-AEFC456DF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049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Elipse 25">
            <a:extLst>
              <a:ext uri="{FF2B5EF4-FFF2-40B4-BE49-F238E27FC236}">
                <a16:creationId xmlns:a16="http://schemas.microsoft.com/office/drawing/2014/main" id="{5741BB2E-EC01-0BB5-9B00-656092AB5A2C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556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3F3E3E"/>
      </a:dk2>
      <a:lt2>
        <a:srgbClr val="E8E8E8"/>
      </a:lt2>
      <a:accent1>
        <a:srgbClr val="EA1D2C"/>
      </a:accent1>
      <a:accent2>
        <a:srgbClr val="F1616B"/>
      </a:accent2>
      <a:accent3>
        <a:srgbClr val="FADBD8"/>
      </a:accent3>
      <a:accent4>
        <a:srgbClr val="A50E1E"/>
      </a:accent4>
      <a:accent5>
        <a:srgbClr val="8C8C8C"/>
      </a:accent5>
      <a:accent6>
        <a:srgbClr val="EA1D2C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596</Words>
  <Application>Microsoft Office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Tema do Office</vt:lpstr>
      <vt:lpstr>Case Técnico Data Science</vt:lpstr>
      <vt:lpstr>Para quem enviar cupons?</vt:lpstr>
      <vt:lpstr>Modelo para cupons Informacionais</vt:lpstr>
      <vt:lpstr>Modelo para cupons BOGO</vt:lpstr>
      <vt:lpstr>Modelo para cupons de Desconto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Silva</dc:creator>
  <cp:lastModifiedBy>Denise Silva</cp:lastModifiedBy>
  <cp:revision>4</cp:revision>
  <dcterms:created xsi:type="dcterms:W3CDTF">2026-07-15T19:44:46Z</dcterms:created>
  <dcterms:modified xsi:type="dcterms:W3CDTF">2026-07-23T13:14:31Z</dcterms:modified>
</cp:coreProperties>
</file>